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CA3058-2C99-4AFE-A98D-97C874F8DB97}">
  <a:tblStyle styleId="{6FCA3058-2C99-4AFE-A98D-97C874F8DB9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74dc65669187458d_34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h74dc65669187458d_34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SPEAKER: ADRIAN | Slide 1 | Target: 0:25</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a:t>Good afternoon, everyone. We're Team B05. I'm Adrian, and this is Ashwin, Jenni, and Saleha. </a:t>
            </a:r>
            <a:endParaRPr/>
          </a:p>
          <a:p>
            <a:pPr indent="0" lvl="0" marL="457200" rtl="0" algn="l">
              <a:lnSpc>
                <a:spcPct val="100000"/>
              </a:lnSpc>
              <a:spcBef>
                <a:spcPts val="0"/>
              </a:spcBef>
              <a:spcAft>
                <a:spcPts val="0"/>
              </a:spcAft>
              <a:buNone/>
            </a:pPr>
            <a:r>
              <a:t/>
            </a:r>
            <a:endParaRPr/>
          </a:p>
          <a:p>
            <a:pPr indent="-298450" lvl="0" marL="457200" rtl="0" algn="l">
              <a:lnSpc>
                <a:spcPct val="100000"/>
              </a:lnSpc>
              <a:spcBef>
                <a:spcPts val="0"/>
              </a:spcBef>
              <a:spcAft>
                <a:spcPts val="0"/>
              </a:spcAft>
              <a:buSzPts val="1100"/>
              <a:buChar char="●"/>
            </a:pPr>
            <a:r>
              <a:rPr lang="en"/>
              <a:t>Our project asks a pretty simple question: did Formula 1's cost cap actually balance the competition? We looked at results from 2010 to 2025 to see whether success was spread across more teams after the new spending rules started in 2021.</a:t>
            </a:r>
            <a:endParaRPr/>
          </a:p>
        </p:txBody>
      </p:sp>
      <p:sp>
        <p:nvSpPr>
          <p:cNvPr id="55" name="Google Shape;55;h74dc65669187458d_34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h74dc65669187458d_34_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h74dc65669187458d_34_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SPEAKER: ADRIAN | Slide 2 | Target: 1:10</a:t>
            </a:r>
            <a:endParaRPr sz="1100"/>
          </a:p>
          <a:p>
            <a:pPr indent="-298450" lvl="0" marL="457200" rtl="0" algn="l">
              <a:lnSpc>
                <a:spcPct val="100000"/>
              </a:lnSpc>
              <a:spcBef>
                <a:spcPts val="0"/>
              </a:spcBef>
              <a:spcAft>
                <a:spcPts val="0"/>
              </a:spcAft>
              <a:buSzPts val="1100"/>
              <a:buChar char="●"/>
            </a:pPr>
            <a:r>
              <a:rPr lang="en"/>
              <a:t>Again, we are answering the question:....</a:t>
            </a:r>
            <a:endParaRPr/>
          </a:p>
          <a:p>
            <a:pPr indent="-228600" lvl="0" marL="457200" rtl="0" algn="l">
              <a:lnSpc>
                <a:spcPct val="100000"/>
              </a:lnSpc>
              <a:spcBef>
                <a:spcPts val="0"/>
              </a:spcBef>
              <a:spcAft>
                <a:spcPts val="0"/>
              </a:spcAft>
              <a:buSzPts val="1100"/>
              <a:buNone/>
            </a:pPr>
            <a:r>
              <a:t/>
            </a:r>
            <a:endParaRPr sz="1100"/>
          </a:p>
          <a:p>
            <a:pPr indent="-298450" lvl="0" marL="457200" rtl="0" algn="l">
              <a:spcBef>
                <a:spcPts val="0"/>
              </a:spcBef>
              <a:spcAft>
                <a:spcPts val="0"/>
              </a:spcAft>
              <a:buClr>
                <a:schemeClr val="dk1"/>
              </a:buClr>
              <a:buSzPts val="1100"/>
              <a:buChar char="●"/>
            </a:pPr>
            <a:r>
              <a:rPr lang="en">
                <a:solidFill>
                  <a:schemeClr val="dk1"/>
                </a:solidFill>
              </a:rPr>
              <a:t>If you don't follow F1, here's the quick version. The constructors are the teams, like Ferrari, Mercedes, and McLaren. Each team has two drivers, and their race finishes earn points. Those points add up over the season to decide the Constructors' Championship. That's the championship we studied, not the drivers' one. </a:t>
            </a:r>
            <a:endParaRPr>
              <a:solidFill>
                <a:schemeClr val="dk1"/>
              </a:solidFill>
            </a:endParaRPr>
          </a:p>
          <a:p>
            <a:pPr indent="-298450" lvl="0" marL="457200" rtl="0" algn="l">
              <a:spcBef>
                <a:spcPts val="0"/>
              </a:spcBef>
              <a:spcAft>
                <a:spcPts val="0"/>
              </a:spcAft>
              <a:buClr>
                <a:schemeClr val="dk1"/>
              </a:buClr>
              <a:buSzPts val="1100"/>
              <a:buChar char="●"/>
            </a:pPr>
            <a:r>
              <a:rPr lang="en"/>
              <a:t>If you don't follow F1, here's the quick version. The constructors are the teams, like Ferrari, Mercedes, and McLaren. Each team has two drivers, and their race finishes earn points. Those points add up over the season to decide the Constructors' Championship. That's the championship we studied, not the drivers' one. Before 2021, the richest teams could simply outspend everyone else on their cars. So in 2021, F1 put a cap on certain kinds of team spending. It started at 145 million dollars and came down to 135 million by 2023. But a spending limit doesn't automatically make the cars equally fast. So instead of assuming it worked, we checked what actually happened in the results.</a:t>
            </a:r>
            <a:endParaRPr/>
          </a:p>
        </p:txBody>
      </p:sp>
      <p:sp>
        <p:nvSpPr>
          <p:cNvPr id="70" name="Google Shape;70;h74dc65669187458d_34_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74dc65669187458d_34_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h74dc65669187458d_34_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SPEAKER: </a:t>
            </a:r>
            <a:r>
              <a:rPr lang="en"/>
              <a:t>Jenni</a:t>
            </a:r>
            <a:r>
              <a:rPr lang="en" sz="1100"/>
              <a:t> | Slide 3 | Target: 0:55</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Why does competitive balance matter? For fans, closer racing can make seasons less predictable and more exciting. For sponsors, more competitive teams could mean more opportunities to get exposure near the front. And for F1 and the smaller teams, a more balanced grid could make the championship more appealing and give more teams a realistic chance to compete.</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That leads to our central question: after the cost cap, did success spread across more teams, or did the leading teams just change? Ashwin will explain how we measured that.</a:t>
            </a:r>
            <a:endParaRPr/>
          </a:p>
        </p:txBody>
      </p:sp>
      <p:sp>
        <p:nvSpPr>
          <p:cNvPr id="99" name="Google Shape;99;h74dc65669187458d_34_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6b9b0020762b911d_36_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h6b9b0020762b911d_36_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Clr>
                <a:schemeClr val="dk1"/>
              </a:buClr>
              <a:buSzPts val="1100"/>
              <a:buChar char="●"/>
            </a:pPr>
            <a:r>
              <a:rPr lang="en">
                <a:solidFill>
                  <a:schemeClr val="dk1"/>
                </a:solidFill>
              </a:rPr>
              <a:t>SPEAKER: ashwin | Slide 4 | Target: 0:55</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
              <a:t>●We used the F1DB constructor standings and Grand Prix results from 2010 through 2025. We compared eleven seasons before the cost cap, 2010 to 2020, with five seasons after it, 2021 to 2025. We left out 2026 because that season wasn't complete in our analysis.</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●We also accounted for teams that changed names. For example, Force India, Racing Point, and Aston Martin are connected in the team's history, so we treated renamed teams consistently instead of counting a name change as a brand-new competitor.</a:t>
            </a:r>
            <a:endParaRPr/>
          </a:p>
          <a:p>
            <a:pPr indent="0" lvl="0" marL="12700" rtl="0" algn="l">
              <a:lnSpc>
                <a:spcPct val="115000"/>
              </a:lnSpc>
              <a:spcBef>
                <a:spcPts val="0"/>
              </a:spcBef>
              <a:spcAft>
                <a:spcPts val="0"/>
              </a:spcAft>
              <a:buClr>
                <a:schemeClr val="dk1"/>
              </a:buClr>
              <a:buSzPts val="1100"/>
              <a:buFont typeface="Arial"/>
              <a:buNone/>
            </a:pPr>
            <a:r>
              <a:rPr lang="en"/>
              <a:t>●</a:t>
            </a:r>
            <a:endParaRPr/>
          </a:p>
          <a:p>
            <a:pPr indent="0" lvl="0" marL="12700" rtl="0" algn="l">
              <a:lnSpc>
                <a:spcPct val="115000"/>
              </a:lnSpc>
              <a:spcBef>
                <a:spcPts val="0"/>
              </a:spcBef>
              <a:spcAft>
                <a:spcPts val="0"/>
              </a:spcAft>
              <a:buClr>
                <a:schemeClr val="dk1"/>
              </a:buClr>
              <a:buSzPts val="1100"/>
              <a:buFont typeface="Arial"/>
              <a:buNone/>
            </a:pPr>
            <a:r>
              <a:rPr lang="en"/>
              <a:t>●Our main measure is points share: one team's points divided by all constructors' points in that season. CR2 is the combined share of the top two teams. Midfield share covers fourth through seventh. And our Big Three measure follows Ferrari, Mercedes, and Red Bull. Together, they show different sides of competition.</a:t>
            </a:r>
            <a:endParaRPr/>
          </a:p>
          <a:p>
            <a:pPr indent="0" lvl="0" marL="0" rtl="0" algn="l">
              <a:spcBef>
                <a:spcPts val="0"/>
              </a:spcBef>
              <a:spcAft>
                <a:spcPts val="0"/>
              </a:spcAft>
              <a:buNone/>
            </a:pPr>
            <a:r>
              <a:t/>
            </a:r>
            <a:endParaRPr/>
          </a:p>
        </p:txBody>
      </p:sp>
      <p:sp>
        <p:nvSpPr>
          <p:cNvPr id="117" name="Google Shape;117;h6b9b0020762b911d_36_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74dc65669187458d_34_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h74dc65669187458d_34_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SPEAKER: ASHWIN | Slide 5 | Target: 1:30</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On the left, the top two teams earned about 54.7 percent of all constructor points per season before the cap. Afterward, that fell to about 52.1 percent, a drop of 2.58 percentage points. That moves in the direction of better balance, but it's not a huge change. And our Welch t-test gave a p-value of 0.245, which means we don't have strong statistical evidence of a difference in the averages.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On the right, we're looking at Ferrari, Mercedes, and Red Bull specifically. Their average combined points share fell from about 67.5 to 65.8 percent. But here's the important catch: if we leave out 2025, the post-cap average becomes about 69.8 percent, actually higher than before. So a lot of the apparent improvement depends on 2025.</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We also have to be careful about saying the cost cap caused any of this. The 2022 aerodynamic changes and other regulations happened around this period too. Our data shows what changed, not which rule was responsible. I'll pass it to Jenniffer to look at who benefited and what happened in individual races.</a:t>
            </a:r>
            <a:endParaRPr/>
          </a:p>
        </p:txBody>
      </p:sp>
      <p:sp>
        <p:nvSpPr>
          <p:cNvPr id="150" name="Google Shape;150;h74dc65669187458d_34_9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h74dc65669187458d_34_10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h74dc65669187458d_34_1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SPEAKER: JENNIFFER | Slide 6 | Target: 1:15</a:t>
            </a:r>
            <a:endParaRPr/>
          </a:p>
          <a:p>
            <a:pPr indent="-298450" lvl="0" marL="457200" rtl="0" algn="l">
              <a:lnSpc>
                <a:spcPct val="115000"/>
              </a:lnSpc>
              <a:spcBef>
                <a:spcPts val="0"/>
              </a:spcBef>
              <a:spcAft>
                <a:spcPts val="0"/>
              </a:spcAft>
              <a:buSzPts val="1100"/>
              <a:buChar char="●"/>
            </a:pPr>
            <a:r>
              <a:rPr lang="en">
                <a:solidFill>
                  <a:schemeClr val="dk1"/>
                </a:solidFill>
              </a:rPr>
              <a:t>Now, let's look at the teams outside the very top.</a:t>
            </a:r>
            <a:endParaRPr>
              <a:solidFill>
                <a:schemeClr val="dk1"/>
              </a:solidFill>
            </a:endParaRPr>
          </a:p>
          <a:p>
            <a:pPr indent="-298450" lvl="0" marL="457200" rtl="0" algn="l">
              <a:lnSpc>
                <a:spcPct val="115000"/>
              </a:lnSpc>
              <a:spcBef>
                <a:spcPts val="0"/>
              </a:spcBef>
              <a:spcAft>
                <a:spcPts val="0"/>
              </a:spcAft>
              <a:buSzPts val="1100"/>
              <a:buChar char="●"/>
            </a:pPr>
            <a:r>
              <a:rPr lang="en">
                <a:solidFill>
                  <a:schemeClr val="dk1"/>
                </a:solidFill>
              </a:rPr>
              <a:t>Starting with the graph on the left, teams finishing fourth through seventh earned an average of 24.7% of championship points before the cost cap, compared to 26.2% afterward.</a:t>
            </a:r>
            <a:endParaRPr>
              <a:solidFill>
                <a:schemeClr val="dk1"/>
              </a:solidFill>
            </a:endParaRPr>
          </a:p>
          <a:p>
            <a:pPr indent="-298450" lvl="0" marL="457200" rtl="0" algn="l">
              <a:lnSpc>
                <a:spcPct val="115000"/>
              </a:lnSpc>
              <a:spcBef>
                <a:spcPts val="0"/>
              </a:spcBef>
              <a:spcAft>
                <a:spcPts val="0"/>
              </a:spcAft>
              <a:buSzPts val="1100"/>
              <a:buChar char="●"/>
            </a:pPr>
            <a:r>
              <a:rPr lang="en">
                <a:solidFill>
                  <a:schemeClr val="dk1"/>
                </a:solidFill>
              </a:rPr>
              <a:t>That's only a 1.45 percentage-point increase, and as you can see, the results fluctuate quite a lot between seasons. So although the midfield gained some ground, the improvement was fairly small.</a:t>
            </a:r>
            <a:endParaRPr>
              <a:solidFill>
                <a:schemeClr val="dk1"/>
              </a:solidFill>
            </a:endParaRPr>
          </a:p>
          <a:p>
            <a:pPr indent="-298450" lvl="0" marL="457200" rtl="0" algn="l">
              <a:lnSpc>
                <a:spcPct val="115000"/>
              </a:lnSpc>
              <a:spcBef>
                <a:spcPts val="0"/>
              </a:spcBef>
              <a:spcAft>
                <a:spcPts val="0"/>
              </a:spcAft>
              <a:buSzPts val="1100"/>
              <a:buChar char="●"/>
            </a:pPr>
            <a:r>
              <a:rPr lang="en">
                <a:solidFill>
                  <a:schemeClr val="dk1"/>
                </a:solidFill>
              </a:rPr>
              <a:t>Now, looking at the graph on the right, we wanted to see which specific teams gained or lost points share.</a:t>
            </a:r>
            <a:endParaRPr>
              <a:solidFill>
                <a:schemeClr val="dk1"/>
              </a:solidFill>
            </a:endParaRPr>
          </a:p>
          <a:p>
            <a:pPr indent="-298450" lvl="0" marL="457200" rtl="0" algn="l">
              <a:lnSpc>
                <a:spcPct val="115000"/>
              </a:lnSpc>
              <a:spcBef>
                <a:spcPts val="0"/>
              </a:spcBef>
              <a:spcAft>
                <a:spcPts val="0"/>
              </a:spcAft>
              <a:buSzPts val="1100"/>
              <a:buChar char="●"/>
            </a:pPr>
            <a:r>
              <a:rPr lang="en">
                <a:solidFill>
                  <a:schemeClr val="dk1"/>
                </a:solidFill>
              </a:rPr>
              <a:t>McLaren had the biggest increase at around 7.5 percentage points, followed by Red Bull at 4.6, while Mercedes lost around 5.6.</a:t>
            </a:r>
            <a:endParaRPr>
              <a:solidFill>
                <a:schemeClr val="dk1"/>
              </a:solidFill>
            </a:endParaRPr>
          </a:p>
          <a:p>
            <a:pPr indent="-298450" lvl="0" marL="457200" rtl="0" algn="l">
              <a:lnSpc>
                <a:spcPct val="115000"/>
              </a:lnSpc>
              <a:spcBef>
                <a:spcPts val="0"/>
              </a:spcBef>
              <a:spcAft>
                <a:spcPts val="0"/>
              </a:spcAft>
              <a:buSzPts val="1100"/>
              <a:buChar char="●"/>
            </a:pPr>
            <a:r>
              <a:rPr lang="en">
                <a:solidFill>
                  <a:schemeClr val="dk1"/>
                </a:solidFill>
              </a:rPr>
              <a:t>What's interesting is that these changes weren't evenly spread across the grid. Instead, certain teams gained while others fell behind.</a:t>
            </a:r>
            <a:endParaRPr>
              <a:solidFill>
                <a:schemeClr val="dk1"/>
              </a:solidFill>
            </a:endParaRPr>
          </a:p>
          <a:p>
            <a:pPr indent="-298450" lvl="0" marL="457200" rtl="0" algn="l">
              <a:lnSpc>
                <a:spcPct val="115000"/>
              </a:lnSpc>
              <a:spcBef>
                <a:spcPts val="0"/>
              </a:spcBef>
              <a:spcAft>
                <a:spcPts val="0"/>
              </a:spcAft>
              <a:buSzPts val="1100"/>
              <a:buChar char="●"/>
            </a:pPr>
            <a:r>
              <a:rPr b="1" lang="en">
                <a:solidFill>
                  <a:schemeClr val="dk1"/>
                </a:solidFill>
              </a:rPr>
              <a:t>So our main takeaway is that different teams becoming successful doesn't necessarily mean the sport became more competitive overall. It could simply mean that the dominant teams changed.</a:t>
            </a:r>
            <a:endParaRPr b="1">
              <a:solidFill>
                <a:schemeClr val="dk1"/>
              </a:solidFill>
            </a:endParaRPr>
          </a:p>
          <a:p>
            <a:pPr indent="-298450" lvl="0" marL="457200" rtl="0" algn="l">
              <a:lnSpc>
                <a:spcPct val="115000"/>
              </a:lnSpc>
              <a:spcBef>
                <a:spcPts val="0"/>
              </a:spcBef>
              <a:spcAft>
                <a:spcPts val="0"/>
              </a:spcAft>
              <a:buSzPts val="1100"/>
              <a:buChar char="●"/>
            </a:pPr>
            <a:r>
              <a:rPr lang="en">
                <a:solidFill>
                  <a:schemeClr val="dk1"/>
                </a:solidFill>
              </a:rPr>
              <a:t>To explore this further, we also looked at which teams actually won races and reached the podium.</a:t>
            </a:r>
            <a:endParaRPr>
              <a:solidFill>
                <a:schemeClr val="dk1"/>
              </a:solidFill>
            </a:endParaRPr>
          </a:p>
          <a:p>
            <a:pPr indent="0" lvl="0" marL="457200" rtl="0" algn="l">
              <a:lnSpc>
                <a:spcPct val="100000"/>
              </a:lnSpc>
              <a:spcBef>
                <a:spcPts val="1200"/>
              </a:spcBef>
              <a:spcAft>
                <a:spcPts val="0"/>
              </a:spcAft>
              <a:buNone/>
            </a:pPr>
            <a:r>
              <a:t/>
            </a:r>
            <a:endParaRPr/>
          </a:p>
        </p:txBody>
      </p:sp>
      <p:sp>
        <p:nvSpPr>
          <p:cNvPr id="165" name="Google Shape;165;h74dc65669187458d_34_10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h74dc65669187458d_34_1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h74dc65669187458d_34_1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SPEAKER: </a:t>
            </a:r>
            <a:r>
              <a:rPr lang="en">
                <a:solidFill>
                  <a:schemeClr val="dk1"/>
                </a:solidFill>
              </a:rPr>
              <a:t>SALEHA</a:t>
            </a:r>
            <a:r>
              <a:rPr lang="en" sz="1100"/>
              <a:t> | Slide 7 | Target: 1:15</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Here, the left chart separates race-winning teams from teams that finished on the podium, meaning the top three in a Grand Prix. Before the cap, an average of 3.18 different constructors won at least one race per season. After the cap, it was 3.20. That's practically unchanged. But the average number of teams that made the podium increased from roughly 5.2 to 6.0. So podium finishes became a bit more accessible, without a similar rise in the number of teams actually winning.</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The graph on the right shows how concentrated race wins could still be. Red Bull won about 95.5 percent of Grand Prix races in 2023. In 2024, victories were spread more evenly: no single constructor won more than 37.5 percent.</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This is why we don't want to judge the cost cap from just one season. The level of dominance still changed dramatically from year to year. Saleha will bring these results together and go through our recommendations.</a:t>
            </a:r>
            <a:endParaRPr/>
          </a:p>
        </p:txBody>
      </p:sp>
      <p:sp>
        <p:nvSpPr>
          <p:cNvPr id="180" name="Google Shape;180;h74dc65669187458d_34_1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h74dc65669187458d_34_1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h74dc65669187458d_34_1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SPEAKER: SALEHA | Slide 8 | Target: 1:15</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We then asked whether close championship fights meant the whole field became more balanced. The left chart shows the points-share gap between the champion and the runner-up. That gap averaged 9.6 percentage points before the cap and 8.5 afterward. But the seasons vary a lot: the gap was about 18.3 points in 2023, compared with roughly half a point in 2024.</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The right chart looks beyond just the top two. We used HHI, a concentration measure, and converted it into the effective number of equally competitive teams. Higher means points are more evenly distributed. The average moved from 4.83 before the cost cap to 4.92 afterward, an increase of only 0.09. And without 2025, the post-cap average is about 4.84.</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So even when we measure the whole grid, the improvement is extremely small. That's consistent with the idea that success shifted between leading teams rather than spreading widely.</a:t>
            </a:r>
            <a:endParaRPr/>
          </a:p>
        </p:txBody>
      </p:sp>
      <p:sp>
        <p:nvSpPr>
          <p:cNvPr id="196" name="Google Shape;196;h74dc65669187458d_34_1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h74dc65669187458d_34_1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h74dc65669187458d_34_1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SPEAKER: </a:t>
            </a:r>
            <a:r>
              <a:rPr lang="en"/>
              <a:t>adrian</a:t>
            </a:r>
            <a:r>
              <a:rPr lang="en" sz="1100"/>
              <a:t> | Slide 9 | Target: 0:55</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Based on that, our recommendations are cautious. For the FIA, we recommend reviewing several competitive-balance measures across more seasons before changing the financial rules. The findings shift depending on the years we compare, and our dataset cannot isolate the effect of the cost cap.</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For midfield teams, we'd focus on tracking progress over multiple seasons and comparing their performance with teams that improved, such as McLaren, rather than judging success from a single year. For sponsors, emerging contenders may be worth considering alongside the traditional leaders. But we haven't measured sponsorship returns, so that last recommendation is a possibility to explore, not a proven financial benefit.</a:t>
            </a:r>
            <a:endParaRPr/>
          </a:p>
        </p:txBody>
      </p:sp>
      <p:sp>
        <p:nvSpPr>
          <p:cNvPr id="212" name="Google Shape;212;h74dc65669187458d_34_1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74dc65669187458d_34_16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h74dc65669187458d_34_1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SPEAKER: SALEHA | Slide 10 | Target: 0:20</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To conclude, we found some small improvements: top-two points share declined and more teams reached podiums. But the number of race-winning constructors hardly changed, and the whole-field points distrbution stayed almost the same. We can't say the cost cap alone caused those results. More completed seasons and spending data would help answer that. Thank you — we're happy to take questions.</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 sz="1100"/>
              <a:t>Takeaway: Success shifted between leading teams, but the overall distribution of points changed very little. More seasons and spending data are needed before attributing changes to the cost cap.</a:t>
            </a:r>
            <a:endParaRPr/>
          </a:p>
        </p:txBody>
      </p:sp>
      <p:sp>
        <p:nvSpPr>
          <p:cNvPr id="228" name="Google Shape;228;h74dc65669187458d_34_16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3.png"/><Relationship Id="rId7" Type="http://schemas.openxmlformats.org/officeDocument/2006/relationships/image" Target="../media/image9.png"/><Relationship Id="rId8"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23.png"/><Relationship Id="rId7"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4.png"/><Relationship Id="rId7"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21.png"/><Relationship Id="rId7"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24.png"/><Relationship Id="rId6" Type="http://schemas.openxmlformats.org/officeDocument/2006/relationships/image" Target="../media/image6.png"/><Relationship Id="rId7"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28.png"/><Relationship Id="rId6" Type="http://schemas.openxmlformats.org/officeDocument/2006/relationships/image" Target="../media/image6.png"/><Relationship Id="rId7"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6.jpg"/><Relationship Id="rId7" Type="http://schemas.openxmlformats.org/officeDocument/2006/relationships/image" Target="../media/image22.png"/><Relationship Id="rId8"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29.png"/><Relationship Id="rId7"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2926"/>
        </a:solidFill>
      </p:bgPr>
    </p:bg>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3">
            <a:alphaModFix/>
          </a:blip>
          <a:srcRect b="27" l="0" r="0" t="27"/>
          <a:stretch/>
        </p:blipFill>
        <p:spPr>
          <a:xfrm>
            <a:off x="0" y="0"/>
            <a:ext cx="9144001" cy="5143499"/>
          </a:xfrm>
          <a:prstGeom prst="rect">
            <a:avLst/>
          </a:prstGeom>
          <a:noFill/>
          <a:ln>
            <a:noFill/>
          </a:ln>
        </p:spPr>
      </p:pic>
      <p:sp>
        <p:nvSpPr>
          <p:cNvPr id="58" name="Google Shape;58;p15"/>
          <p:cNvSpPr/>
          <p:nvPr/>
        </p:nvSpPr>
        <p:spPr>
          <a:xfrm>
            <a:off x="644649" y="274325"/>
            <a:ext cx="6460800" cy="493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900"/>
              <a:buFont typeface="Arial"/>
              <a:buNone/>
            </a:pPr>
            <a:r>
              <a:rPr b="1" i="0" lang="en" sz="2900" u="none" cap="none" strike="noStrike">
                <a:solidFill>
                  <a:srgbClr val="FFFFFF"/>
                </a:solidFill>
                <a:latin typeface="Arial"/>
                <a:ea typeface="Arial"/>
                <a:cs typeface="Arial"/>
                <a:sym typeface="Arial"/>
              </a:rPr>
              <a:t>Did F1’s Cost Cap Level the Grid? </a:t>
            </a:r>
            <a:endParaRPr b="1" i="0" sz="2900" u="none" cap="none" strike="noStrike">
              <a:solidFill>
                <a:srgbClr val="FFFFFF"/>
              </a:solidFill>
              <a:latin typeface="Arial"/>
              <a:ea typeface="Arial"/>
              <a:cs typeface="Arial"/>
              <a:sym typeface="Arial"/>
            </a:endParaRPr>
          </a:p>
        </p:txBody>
      </p:sp>
      <p:sp>
        <p:nvSpPr>
          <p:cNvPr id="59" name="Google Shape;59;p15"/>
          <p:cNvSpPr/>
          <p:nvPr/>
        </p:nvSpPr>
        <p:spPr>
          <a:xfrm>
            <a:off x="644657" y="768096"/>
            <a:ext cx="5303700" cy="32918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CC0000"/>
                </a:solidFill>
                <a:latin typeface="Arial"/>
                <a:ea typeface="Arial"/>
                <a:cs typeface="Arial"/>
                <a:sym typeface="Arial"/>
              </a:rPr>
              <a:t>An Analysis of Competitive Balance, 2010-2025</a:t>
            </a:r>
            <a:endParaRPr b="1" i="0" sz="1600" u="none" cap="none" strike="noStrike">
              <a:solidFill>
                <a:srgbClr val="CC0000"/>
              </a:solidFill>
              <a:latin typeface="Arial"/>
              <a:ea typeface="Arial"/>
              <a:cs typeface="Arial"/>
              <a:sym typeface="Arial"/>
            </a:endParaRPr>
          </a:p>
        </p:txBody>
      </p:sp>
      <p:sp>
        <p:nvSpPr>
          <p:cNvPr id="60" name="Google Shape;60;p15"/>
          <p:cNvSpPr/>
          <p:nvPr/>
        </p:nvSpPr>
        <p:spPr>
          <a:xfrm>
            <a:off x="644657" y="3968496"/>
            <a:ext cx="4357800" cy="4206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AEAEAE"/>
                </a:solidFill>
                <a:latin typeface="Arial"/>
                <a:ea typeface="Arial"/>
                <a:cs typeface="Arial"/>
                <a:sym typeface="Arial"/>
              </a:rPr>
              <a:t>B05 - Adrian Marcell, Ashwin Pillanda Ravindra, </a:t>
            </a:r>
            <a:endParaRPr b="1" i="0" sz="1000" u="none" cap="none" strike="noStrike">
              <a:solidFill>
                <a:srgbClr val="AEAEAE"/>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AEAEAE"/>
                </a:solidFill>
                <a:latin typeface="Arial"/>
                <a:ea typeface="Arial"/>
                <a:cs typeface="Arial"/>
                <a:sym typeface="Arial"/>
              </a:rPr>
              <a:t>Jenniffer Hierro Cruz, and Saleha Hassan Alvi</a:t>
            </a:r>
            <a:endParaRPr b="0" i="0" sz="1000" u="none" cap="none" strike="noStrike">
              <a:solidFill>
                <a:srgbClr val="000000"/>
              </a:solidFill>
              <a:latin typeface="Arial"/>
              <a:ea typeface="Arial"/>
              <a:cs typeface="Arial"/>
              <a:sym typeface="Arial"/>
            </a:endParaRPr>
          </a:p>
        </p:txBody>
      </p:sp>
      <p:pic>
        <p:nvPicPr>
          <p:cNvPr id="61" name="Google Shape;61;p15"/>
          <p:cNvPicPr preferRelativeResize="0"/>
          <p:nvPr/>
        </p:nvPicPr>
        <p:blipFill rotWithShape="1">
          <a:blip r:embed="rId4">
            <a:alphaModFix/>
          </a:blip>
          <a:srcRect b="0" l="0" r="0" t="0"/>
          <a:stretch/>
        </p:blipFill>
        <p:spPr>
          <a:xfrm>
            <a:off x="715661" y="4429125"/>
            <a:ext cx="3426428" cy="400050"/>
          </a:xfrm>
          <a:prstGeom prst="rect">
            <a:avLst/>
          </a:prstGeom>
          <a:noFill/>
          <a:ln>
            <a:noFill/>
          </a:ln>
        </p:spPr>
      </p:pic>
      <p:pic>
        <p:nvPicPr>
          <p:cNvPr id="62" name="Google Shape;62;p15"/>
          <p:cNvPicPr preferRelativeResize="0"/>
          <p:nvPr/>
        </p:nvPicPr>
        <p:blipFill rotWithShape="1">
          <a:blip r:embed="rId5">
            <a:alphaModFix/>
          </a:blip>
          <a:srcRect b="0" l="0" r="0" t="8097"/>
          <a:stretch/>
        </p:blipFill>
        <p:spPr>
          <a:xfrm>
            <a:off x="1475850" y="1417320"/>
            <a:ext cx="2718638" cy="2498501"/>
          </a:xfrm>
          <a:prstGeom prst="rect">
            <a:avLst/>
          </a:prstGeom>
          <a:noFill/>
          <a:ln>
            <a:noFill/>
          </a:ln>
        </p:spPr>
      </p:pic>
      <p:pic>
        <p:nvPicPr>
          <p:cNvPr id="63" name="Google Shape;63;p15"/>
          <p:cNvPicPr preferRelativeResize="0"/>
          <p:nvPr/>
        </p:nvPicPr>
        <p:blipFill rotWithShape="1">
          <a:blip r:embed="rId6">
            <a:alphaModFix/>
          </a:blip>
          <a:srcRect b="0" l="0" r="0" t="0"/>
          <a:stretch/>
        </p:blipFill>
        <p:spPr>
          <a:xfrm rot="-3321664">
            <a:off x="8073829" y="1501814"/>
            <a:ext cx="1003115" cy="342872"/>
          </a:xfrm>
          <a:prstGeom prst="rect">
            <a:avLst/>
          </a:prstGeom>
          <a:noFill/>
          <a:ln>
            <a:noFill/>
          </a:ln>
        </p:spPr>
      </p:pic>
      <p:pic>
        <p:nvPicPr>
          <p:cNvPr id="64" name="Google Shape;64;p15"/>
          <p:cNvPicPr preferRelativeResize="0"/>
          <p:nvPr/>
        </p:nvPicPr>
        <p:blipFill rotWithShape="1">
          <a:blip r:embed="rId7">
            <a:alphaModFix/>
          </a:blip>
          <a:srcRect b="0" l="0" r="0" t="0"/>
          <a:stretch/>
        </p:blipFill>
        <p:spPr>
          <a:xfrm>
            <a:off x="715650" y="1094875"/>
            <a:ext cx="2057400" cy="209550"/>
          </a:xfrm>
          <a:prstGeom prst="rect">
            <a:avLst/>
          </a:prstGeom>
          <a:noFill/>
          <a:ln>
            <a:noFill/>
          </a:ln>
        </p:spPr>
      </p:pic>
      <p:pic>
        <p:nvPicPr>
          <p:cNvPr id="65" name="Google Shape;65;p15"/>
          <p:cNvPicPr preferRelativeResize="0"/>
          <p:nvPr/>
        </p:nvPicPr>
        <p:blipFill rotWithShape="1">
          <a:blip r:embed="rId8">
            <a:alphaModFix/>
          </a:blip>
          <a:srcRect b="0" l="0" r="0" t="0"/>
          <a:stretch/>
        </p:blipFill>
        <p:spPr>
          <a:xfrm rot="-3399059">
            <a:off x="7139300" y="2786051"/>
            <a:ext cx="1003124" cy="385975"/>
          </a:xfrm>
          <a:prstGeom prst="rect">
            <a:avLst/>
          </a:prstGeom>
          <a:noFill/>
          <a:ln>
            <a:noFill/>
          </a:ln>
        </p:spPr>
      </p:pic>
      <p:pic>
        <p:nvPicPr>
          <p:cNvPr id="66" name="Google Shape;66;p15"/>
          <p:cNvPicPr preferRelativeResize="0"/>
          <p:nvPr/>
        </p:nvPicPr>
        <p:blipFill rotWithShape="1">
          <a:blip r:embed="rId9">
            <a:alphaModFix/>
          </a:blip>
          <a:srcRect b="0" l="0" r="0" t="0"/>
          <a:stretch/>
        </p:blipFill>
        <p:spPr>
          <a:xfrm rot="1712791">
            <a:off x="6487713" y="3757925"/>
            <a:ext cx="671800" cy="1007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pic>
        <p:nvPicPr>
          <p:cNvPr id="72" name="Google Shape;72;p16"/>
          <p:cNvPicPr preferRelativeResize="0"/>
          <p:nvPr/>
        </p:nvPicPr>
        <p:blipFill rotWithShape="1">
          <a:blip r:embed="rId3">
            <a:alphaModFix/>
          </a:blip>
          <a:srcRect b="27" l="0" r="0" t="27"/>
          <a:stretch/>
        </p:blipFill>
        <p:spPr>
          <a:xfrm>
            <a:off x="0" y="0"/>
            <a:ext cx="9144001" cy="5143499"/>
          </a:xfrm>
          <a:prstGeom prst="rect">
            <a:avLst/>
          </a:prstGeom>
          <a:noFill/>
          <a:ln cap="flat" cmpd="sng" w="9525">
            <a:solidFill>
              <a:schemeClr val="lt2"/>
            </a:solidFill>
            <a:prstDash val="solid"/>
            <a:round/>
            <a:headEnd len="sm" w="sm" type="none"/>
            <a:tailEnd len="sm" w="sm" type="none"/>
          </a:ln>
        </p:spPr>
      </p:pic>
      <p:sp>
        <p:nvSpPr>
          <p:cNvPr id="73" name="Google Shape;73;p16"/>
          <p:cNvSpPr/>
          <p:nvPr/>
        </p:nvSpPr>
        <p:spPr>
          <a:xfrm>
            <a:off x="457200" y="246888"/>
            <a:ext cx="7498080" cy="356616"/>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2D2926"/>
                </a:solidFill>
                <a:latin typeface="Arial"/>
                <a:ea typeface="Arial"/>
                <a:cs typeface="Arial"/>
                <a:sym typeface="Arial"/>
              </a:rPr>
              <a:t>Formula 1 &amp; The Cost Cap</a:t>
            </a:r>
            <a:endParaRPr b="1" i="0" sz="2200" u="none" cap="none" strike="noStrike">
              <a:solidFill>
                <a:srgbClr val="2D2926"/>
              </a:solidFill>
              <a:latin typeface="Arial"/>
              <a:ea typeface="Arial"/>
              <a:cs typeface="Arial"/>
              <a:sym typeface="Arial"/>
            </a:endParaRPr>
          </a:p>
        </p:txBody>
      </p:sp>
      <p:sp>
        <p:nvSpPr>
          <p:cNvPr id="74" name="Google Shape;74;p16"/>
          <p:cNvSpPr/>
          <p:nvPr/>
        </p:nvSpPr>
        <p:spPr>
          <a:xfrm>
            <a:off x="8186738" y="300038"/>
            <a:ext cx="471488" cy="228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rgbClr val="CC0000"/>
                </a:solidFill>
                <a:latin typeface="Arial"/>
                <a:ea typeface="Arial"/>
                <a:cs typeface="Arial"/>
                <a:sym typeface="Arial"/>
              </a:rPr>
              <a:t>02</a:t>
            </a:r>
            <a:endParaRPr b="1" i="0" sz="800" u="none" cap="none" strike="noStrike">
              <a:solidFill>
                <a:srgbClr val="CC0000"/>
              </a:solidFill>
              <a:latin typeface="Arial"/>
              <a:ea typeface="Arial"/>
              <a:cs typeface="Arial"/>
              <a:sym typeface="Arial"/>
            </a:endParaRPr>
          </a:p>
        </p:txBody>
      </p:sp>
      <p:sp>
        <p:nvSpPr>
          <p:cNvPr id="75" name="Google Shape;75;p16"/>
          <p:cNvSpPr/>
          <p:nvPr/>
        </p:nvSpPr>
        <p:spPr>
          <a:xfrm>
            <a:off x="457200" y="822960"/>
            <a:ext cx="6492240" cy="658368"/>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rgbClr val="CC0000"/>
                </a:solidFill>
                <a:latin typeface="Arial"/>
                <a:ea typeface="Arial"/>
                <a:cs typeface="Arial"/>
                <a:sym typeface="Arial"/>
              </a:rPr>
              <a:t>Our Question: Did competition become more balanced after the 2021 cost cap implementation?</a:t>
            </a:r>
            <a:endParaRPr b="1" i="0" sz="1900" u="none" cap="none" strike="noStrike">
              <a:solidFill>
                <a:srgbClr val="CC0000"/>
              </a:solidFill>
              <a:latin typeface="Arial"/>
              <a:ea typeface="Arial"/>
              <a:cs typeface="Arial"/>
              <a:sym typeface="Arial"/>
            </a:endParaRPr>
          </a:p>
        </p:txBody>
      </p:sp>
      <p:sp>
        <p:nvSpPr>
          <p:cNvPr id="76" name="Google Shape;76;p16"/>
          <p:cNvSpPr/>
          <p:nvPr/>
        </p:nvSpPr>
        <p:spPr>
          <a:xfrm>
            <a:off x="1938528" y="1623060"/>
            <a:ext cx="5497500" cy="28346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2D2926"/>
                </a:solidFill>
                <a:latin typeface="Arial"/>
                <a:ea typeface="Arial"/>
                <a:cs typeface="Arial"/>
                <a:sym typeface="Arial"/>
              </a:rPr>
              <a:t>FIA Formula One World Championship Overview</a:t>
            </a:r>
            <a:endParaRPr b="1" i="0" sz="1800" u="none" cap="none" strike="noStrike">
              <a:solidFill>
                <a:srgbClr val="2D2926"/>
              </a:solidFill>
              <a:latin typeface="Arial"/>
              <a:ea typeface="Arial"/>
              <a:cs typeface="Arial"/>
              <a:sym typeface="Arial"/>
            </a:endParaRPr>
          </a:p>
        </p:txBody>
      </p:sp>
      <p:sp>
        <p:nvSpPr>
          <p:cNvPr id="77" name="Google Shape;77;p16"/>
          <p:cNvSpPr/>
          <p:nvPr/>
        </p:nvSpPr>
        <p:spPr>
          <a:xfrm>
            <a:off x="457200" y="2157425"/>
            <a:ext cx="3374136" cy="243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CC0000"/>
                </a:solidFill>
                <a:latin typeface="Arial"/>
                <a:ea typeface="Arial"/>
                <a:cs typeface="Arial"/>
                <a:sym typeface="Arial"/>
              </a:rPr>
              <a:t>How Formula 1 Works</a:t>
            </a:r>
            <a:endParaRPr b="1" i="0" sz="1600" u="none" cap="none" strike="noStrike">
              <a:solidFill>
                <a:srgbClr val="CC0000"/>
              </a:solidFill>
              <a:latin typeface="Arial"/>
              <a:ea typeface="Arial"/>
              <a:cs typeface="Arial"/>
              <a:sym typeface="Arial"/>
            </a:endParaRPr>
          </a:p>
        </p:txBody>
      </p:sp>
      <p:sp>
        <p:nvSpPr>
          <p:cNvPr id="78" name="Google Shape;78;p16"/>
          <p:cNvSpPr/>
          <p:nvPr/>
        </p:nvSpPr>
        <p:spPr>
          <a:xfrm>
            <a:off x="4672584" y="2157425"/>
            <a:ext cx="3374136" cy="243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8B8784"/>
                </a:solidFill>
                <a:latin typeface="Arial"/>
                <a:ea typeface="Arial"/>
                <a:cs typeface="Arial"/>
                <a:sym typeface="Arial"/>
              </a:rPr>
              <a:t>What Changed in 2021</a:t>
            </a:r>
            <a:endParaRPr b="1" i="0" sz="1600" u="none" cap="none" strike="noStrike">
              <a:solidFill>
                <a:srgbClr val="8B8784"/>
              </a:solidFill>
              <a:latin typeface="Arial"/>
              <a:ea typeface="Arial"/>
              <a:cs typeface="Arial"/>
              <a:sym typeface="Arial"/>
            </a:endParaRPr>
          </a:p>
        </p:txBody>
      </p:sp>
      <p:sp>
        <p:nvSpPr>
          <p:cNvPr id="79" name="Google Shape;79;p16"/>
          <p:cNvSpPr/>
          <p:nvPr/>
        </p:nvSpPr>
        <p:spPr>
          <a:xfrm>
            <a:off x="457200" y="2532888"/>
            <a:ext cx="182880" cy="210312"/>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CC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
        <p:nvSpPr>
          <p:cNvPr id="80" name="Google Shape;80;p16"/>
          <p:cNvSpPr/>
          <p:nvPr/>
        </p:nvSpPr>
        <p:spPr>
          <a:xfrm>
            <a:off x="658368" y="2496312"/>
            <a:ext cx="3374136" cy="50292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Teams compete in the Constructors’ Championship.</a:t>
            </a:r>
            <a:endParaRPr b="0" i="0" sz="1500" u="none" cap="none" strike="noStrike">
              <a:solidFill>
                <a:srgbClr val="000000"/>
              </a:solidFill>
              <a:latin typeface="Calibri"/>
              <a:ea typeface="Calibri"/>
              <a:cs typeface="Calibri"/>
              <a:sym typeface="Calibri"/>
            </a:endParaRPr>
          </a:p>
        </p:txBody>
      </p:sp>
      <p:sp>
        <p:nvSpPr>
          <p:cNvPr id="81" name="Google Shape;81;p16"/>
          <p:cNvSpPr/>
          <p:nvPr/>
        </p:nvSpPr>
        <p:spPr>
          <a:xfrm>
            <a:off x="457200" y="3044952"/>
            <a:ext cx="182880" cy="210312"/>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CC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
        <p:nvSpPr>
          <p:cNvPr id="82" name="Google Shape;82;p16"/>
          <p:cNvSpPr/>
          <p:nvPr/>
        </p:nvSpPr>
        <p:spPr>
          <a:xfrm>
            <a:off x="658368" y="3008376"/>
            <a:ext cx="3374136" cy="50292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Teams accumulate points throughout the season.</a:t>
            </a:r>
            <a:endParaRPr b="0" i="0" sz="1500" u="none" cap="none" strike="noStrike">
              <a:solidFill>
                <a:srgbClr val="000000"/>
              </a:solidFill>
              <a:latin typeface="Calibri"/>
              <a:ea typeface="Calibri"/>
              <a:cs typeface="Calibri"/>
              <a:sym typeface="Calibri"/>
            </a:endParaRPr>
          </a:p>
        </p:txBody>
      </p:sp>
      <p:sp>
        <p:nvSpPr>
          <p:cNvPr id="83" name="Google Shape;83;p16"/>
          <p:cNvSpPr/>
          <p:nvPr/>
        </p:nvSpPr>
        <p:spPr>
          <a:xfrm>
            <a:off x="457200" y="3557016"/>
            <a:ext cx="182880" cy="210312"/>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CC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
        <p:nvSpPr>
          <p:cNvPr id="84" name="Google Shape;84;p16"/>
          <p:cNvSpPr/>
          <p:nvPr/>
        </p:nvSpPr>
        <p:spPr>
          <a:xfrm>
            <a:off x="658368" y="3520440"/>
            <a:ext cx="3374136" cy="50292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Championship standings rank teams by their total points.</a:t>
            </a:r>
            <a:endParaRPr b="0" i="0" sz="1500" u="none" cap="none" strike="noStrike">
              <a:solidFill>
                <a:srgbClr val="000000"/>
              </a:solidFill>
              <a:latin typeface="Calibri"/>
              <a:ea typeface="Calibri"/>
              <a:cs typeface="Calibri"/>
              <a:sym typeface="Calibri"/>
            </a:endParaRPr>
          </a:p>
        </p:txBody>
      </p:sp>
      <p:sp>
        <p:nvSpPr>
          <p:cNvPr id="85" name="Google Shape;85;p16"/>
          <p:cNvSpPr/>
          <p:nvPr/>
        </p:nvSpPr>
        <p:spPr>
          <a:xfrm>
            <a:off x="4672584" y="2532888"/>
            <a:ext cx="182880" cy="210312"/>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8B8784"/>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
        <p:nvSpPr>
          <p:cNvPr id="86" name="Google Shape;86;p16"/>
          <p:cNvSpPr/>
          <p:nvPr/>
        </p:nvSpPr>
        <p:spPr>
          <a:xfrm>
            <a:off x="4873752" y="2496312"/>
            <a:ext cx="3374136" cy="50292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Formula 1 introduced a cost cap.</a:t>
            </a:r>
            <a:endParaRPr b="0" i="0" sz="1500" u="none" cap="none" strike="noStrike">
              <a:solidFill>
                <a:srgbClr val="000000"/>
              </a:solidFill>
              <a:latin typeface="Calibri"/>
              <a:ea typeface="Calibri"/>
              <a:cs typeface="Calibri"/>
              <a:sym typeface="Calibri"/>
            </a:endParaRPr>
          </a:p>
        </p:txBody>
      </p:sp>
      <p:sp>
        <p:nvSpPr>
          <p:cNvPr id="87" name="Google Shape;87;p16"/>
          <p:cNvSpPr/>
          <p:nvPr/>
        </p:nvSpPr>
        <p:spPr>
          <a:xfrm>
            <a:off x="4672584" y="3044952"/>
            <a:ext cx="182880" cy="210312"/>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8B8784"/>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
        <p:nvSpPr>
          <p:cNvPr id="88" name="Google Shape;88;p16"/>
          <p:cNvSpPr/>
          <p:nvPr/>
        </p:nvSpPr>
        <p:spPr>
          <a:xfrm>
            <a:off x="4873752" y="3008376"/>
            <a:ext cx="3374136" cy="50292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The cap limits specified team spending.</a:t>
            </a:r>
            <a:endParaRPr b="0" i="0" sz="1500" u="none" cap="none" strike="noStrike">
              <a:solidFill>
                <a:srgbClr val="000000"/>
              </a:solidFill>
              <a:latin typeface="Calibri"/>
              <a:ea typeface="Calibri"/>
              <a:cs typeface="Calibri"/>
              <a:sym typeface="Calibri"/>
            </a:endParaRPr>
          </a:p>
        </p:txBody>
      </p:sp>
      <p:sp>
        <p:nvSpPr>
          <p:cNvPr id="89" name="Google Shape;89;p16"/>
          <p:cNvSpPr/>
          <p:nvPr/>
        </p:nvSpPr>
        <p:spPr>
          <a:xfrm>
            <a:off x="4672584" y="3557016"/>
            <a:ext cx="182880" cy="210312"/>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8B8784"/>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
        <p:nvSpPr>
          <p:cNvPr id="90" name="Google Shape;90;p16"/>
          <p:cNvSpPr/>
          <p:nvPr/>
        </p:nvSpPr>
        <p:spPr>
          <a:xfrm>
            <a:off x="4873750" y="3520456"/>
            <a:ext cx="3374100" cy="808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Our analysis examines whether competition became more balanced afterward.</a:t>
            </a:r>
            <a:endParaRPr b="0" i="0" sz="1500" u="none" cap="none" strike="noStrike">
              <a:solidFill>
                <a:srgbClr val="000000"/>
              </a:solidFill>
              <a:latin typeface="Calibri"/>
              <a:ea typeface="Calibri"/>
              <a:cs typeface="Calibri"/>
              <a:sym typeface="Calibri"/>
            </a:endParaRPr>
          </a:p>
        </p:txBody>
      </p:sp>
      <p:pic>
        <p:nvPicPr>
          <p:cNvPr id="91" name="Google Shape;91;p16"/>
          <p:cNvPicPr preferRelativeResize="0"/>
          <p:nvPr/>
        </p:nvPicPr>
        <p:blipFill rotWithShape="1">
          <a:blip r:embed="rId4">
            <a:alphaModFix/>
          </a:blip>
          <a:srcRect b="45280" l="0" r="0" t="45280"/>
          <a:stretch/>
        </p:blipFill>
        <p:spPr>
          <a:xfrm>
            <a:off x="0" y="4657725"/>
            <a:ext cx="9144000" cy="485775"/>
          </a:xfrm>
          <a:prstGeom prst="rect">
            <a:avLst/>
          </a:prstGeom>
          <a:noFill/>
          <a:ln>
            <a:noFill/>
          </a:ln>
        </p:spPr>
      </p:pic>
      <p:pic>
        <p:nvPicPr>
          <p:cNvPr id="92" name="Google Shape;92;p16"/>
          <p:cNvPicPr preferRelativeResize="0"/>
          <p:nvPr/>
        </p:nvPicPr>
        <p:blipFill rotWithShape="1">
          <a:blip r:embed="rId5">
            <a:alphaModFix/>
          </a:blip>
          <a:srcRect b="0" l="0" r="0" t="0"/>
          <a:stretch/>
        </p:blipFill>
        <p:spPr>
          <a:xfrm>
            <a:off x="457200" y="4787397"/>
            <a:ext cx="2428875" cy="283582"/>
          </a:xfrm>
          <a:prstGeom prst="rect">
            <a:avLst/>
          </a:prstGeom>
          <a:noFill/>
          <a:ln>
            <a:noFill/>
          </a:ln>
        </p:spPr>
      </p:pic>
      <p:sp>
        <p:nvSpPr>
          <p:cNvPr id="93" name="Google Shape;93;p16"/>
          <p:cNvSpPr/>
          <p:nvPr/>
        </p:nvSpPr>
        <p:spPr>
          <a:xfrm>
            <a:off x="3218688" y="4718304"/>
            <a:ext cx="5440680" cy="347472"/>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650"/>
              <a:buFont typeface="Arial"/>
              <a:buNone/>
            </a:pPr>
            <a:r>
              <a:rPr b="0" i="0" lang="en" sz="650" u="none" cap="none" strike="noStrike">
                <a:solidFill>
                  <a:srgbClr val="FFFFFF"/>
                </a:solidFill>
                <a:latin typeface="Arial"/>
                <a:ea typeface="Arial"/>
                <a:cs typeface="Arial"/>
                <a:sym typeface="Arial"/>
              </a:rPr>
              <a:t>Sources: Formula 1, “The 2021 rules and regulation changes” (formula1.com).</a:t>
            </a:r>
            <a:endParaRPr b="0" i="0" sz="1100" u="none" cap="none" strike="noStrike">
              <a:solidFill>
                <a:srgbClr val="000000"/>
              </a:solidFill>
              <a:latin typeface="Arial"/>
              <a:ea typeface="Arial"/>
              <a:cs typeface="Arial"/>
              <a:sym typeface="Arial"/>
            </a:endParaRPr>
          </a:p>
        </p:txBody>
      </p:sp>
      <p:pic>
        <p:nvPicPr>
          <p:cNvPr id="94" name="Google Shape;94;p16"/>
          <p:cNvPicPr preferRelativeResize="0"/>
          <p:nvPr/>
        </p:nvPicPr>
        <p:blipFill rotWithShape="1">
          <a:blip r:embed="rId6">
            <a:alphaModFix/>
          </a:blip>
          <a:srcRect b="0" l="0" r="0" t="0"/>
          <a:stretch/>
        </p:blipFill>
        <p:spPr>
          <a:xfrm>
            <a:off x="525780" y="1360555"/>
            <a:ext cx="1437281" cy="808474"/>
          </a:xfrm>
          <a:prstGeom prst="rect">
            <a:avLst/>
          </a:prstGeom>
          <a:noFill/>
          <a:ln>
            <a:noFill/>
          </a:ln>
        </p:spPr>
      </p:pic>
      <p:pic>
        <p:nvPicPr>
          <p:cNvPr id="95" name="Google Shape;95;p16"/>
          <p:cNvPicPr preferRelativeResize="0"/>
          <p:nvPr/>
        </p:nvPicPr>
        <p:blipFill rotWithShape="1">
          <a:blip r:embed="rId7">
            <a:alphaModFix/>
          </a:blip>
          <a:srcRect b="0" l="0" r="0" t="0"/>
          <a:stretch/>
        </p:blipFill>
        <p:spPr>
          <a:xfrm>
            <a:off x="700100" y="3846075"/>
            <a:ext cx="3651973" cy="1112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pic>
        <p:nvPicPr>
          <p:cNvPr id="101" name="Google Shape;101;p17"/>
          <p:cNvPicPr preferRelativeResize="0"/>
          <p:nvPr/>
        </p:nvPicPr>
        <p:blipFill rotWithShape="1">
          <a:blip r:embed="rId3">
            <a:alphaModFix/>
          </a:blip>
          <a:srcRect b="27" l="0" r="0" t="27"/>
          <a:stretch/>
        </p:blipFill>
        <p:spPr>
          <a:xfrm>
            <a:off x="0" y="-5"/>
            <a:ext cx="9144001" cy="5143499"/>
          </a:xfrm>
          <a:prstGeom prst="rect">
            <a:avLst/>
          </a:prstGeom>
          <a:noFill/>
          <a:ln cap="flat" cmpd="sng" w="9525">
            <a:solidFill>
              <a:schemeClr val="lt2"/>
            </a:solidFill>
            <a:prstDash val="solid"/>
            <a:round/>
            <a:headEnd len="sm" w="sm" type="none"/>
            <a:tailEnd len="sm" w="sm" type="none"/>
          </a:ln>
        </p:spPr>
      </p:pic>
      <p:sp>
        <p:nvSpPr>
          <p:cNvPr id="102" name="Google Shape;102;p17"/>
          <p:cNvSpPr/>
          <p:nvPr/>
        </p:nvSpPr>
        <p:spPr>
          <a:xfrm>
            <a:off x="457200" y="246888"/>
            <a:ext cx="7498080" cy="356616"/>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2D2926"/>
                </a:solidFill>
                <a:latin typeface="Arial"/>
                <a:ea typeface="Arial"/>
                <a:cs typeface="Arial"/>
                <a:sym typeface="Arial"/>
              </a:rPr>
              <a:t>Why Competitive Balance Matters</a:t>
            </a:r>
            <a:endParaRPr b="1" i="0" sz="2200" u="none" cap="none" strike="noStrike">
              <a:solidFill>
                <a:srgbClr val="2D2926"/>
              </a:solidFill>
              <a:latin typeface="Arial"/>
              <a:ea typeface="Arial"/>
              <a:cs typeface="Arial"/>
              <a:sym typeface="Arial"/>
            </a:endParaRPr>
          </a:p>
        </p:txBody>
      </p:sp>
      <p:sp>
        <p:nvSpPr>
          <p:cNvPr id="103" name="Google Shape;103;p17"/>
          <p:cNvSpPr/>
          <p:nvPr/>
        </p:nvSpPr>
        <p:spPr>
          <a:xfrm>
            <a:off x="8186738" y="300038"/>
            <a:ext cx="471488" cy="228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rgbClr val="CC0000"/>
                </a:solidFill>
                <a:latin typeface="Arial"/>
                <a:ea typeface="Arial"/>
                <a:cs typeface="Arial"/>
                <a:sym typeface="Arial"/>
              </a:rPr>
              <a:t>03</a:t>
            </a:r>
            <a:endParaRPr b="1" i="0" sz="800" u="none" cap="none" strike="noStrike">
              <a:solidFill>
                <a:srgbClr val="CC0000"/>
              </a:solidFill>
              <a:latin typeface="Arial"/>
              <a:ea typeface="Arial"/>
              <a:cs typeface="Arial"/>
              <a:sym typeface="Arial"/>
            </a:endParaRPr>
          </a:p>
        </p:txBody>
      </p:sp>
      <p:sp>
        <p:nvSpPr>
          <p:cNvPr id="104" name="Google Shape;104;p17"/>
          <p:cNvSpPr/>
          <p:nvPr/>
        </p:nvSpPr>
        <p:spPr>
          <a:xfrm>
            <a:off x="457200" y="822960"/>
            <a:ext cx="6492240" cy="658368"/>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100"/>
              <a:buFont typeface="Arial"/>
              <a:buNone/>
            </a:pPr>
            <a:r>
              <a:rPr b="1" i="0" lang="en" sz="1900" u="none" cap="none" strike="noStrike">
                <a:solidFill>
                  <a:srgbClr val="CC0000"/>
                </a:solidFill>
                <a:latin typeface="Arial"/>
                <a:ea typeface="Arial"/>
                <a:cs typeface="Arial"/>
                <a:sym typeface="Arial"/>
              </a:rPr>
              <a:t>Why should fans, teams, and sponsors care about a more competitive grid?</a:t>
            </a:r>
            <a:endParaRPr b="1" i="0" sz="1900" u="none" cap="none" strike="noStrike">
              <a:solidFill>
                <a:srgbClr val="CC0000"/>
              </a:solidFill>
              <a:latin typeface="Arial"/>
              <a:ea typeface="Arial"/>
              <a:cs typeface="Arial"/>
              <a:sym typeface="Arial"/>
            </a:endParaRPr>
          </a:p>
        </p:txBody>
      </p:sp>
      <p:pic>
        <p:nvPicPr>
          <p:cNvPr id="105" name="Google Shape;105;p17"/>
          <p:cNvPicPr preferRelativeResize="0"/>
          <p:nvPr/>
        </p:nvPicPr>
        <p:blipFill rotWithShape="1">
          <a:blip r:embed="rId4">
            <a:alphaModFix/>
          </a:blip>
          <a:srcRect b="45280" l="0" r="0" t="45280"/>
          <a:stretch/>
        </p:blipFill>
        <p:spPr>
          <a:xfrm>
            <a:off x="0" y="4659511"/>
            <a:ext cx="9144001" cy="485775"/>
          </a:xfrm>
          <a:prstGeom prst="rect">
            <a:avLst/>
          </a:prstGeom>
          <a:noFill/>
          <a:ln>
            <a:noFill/>
          </a:ln>
        </p:spPr>
      </p:pic>
      <p:pic>
        <p:nvPicPr>
          <p:cNvPr id="106" name="Google Shape;106;p17"/>
          <p:cNvPicPr preferRelativeResize="0"/>
          <p:nvPr/>
        </p:nvPicPr>
        <p:blipFill rotWithShape="1">
          <a:blip r:embed="rId5">
            <a:alphaModFix/>
          </a:blip>
          <a:srcRect b="0" l="0" r="0" t="0"/>
          <a:stretch/>
        </p:blipFill>
        <p:spPr>
          <a:xfrm>
            <a:off x="457200" y="4787397"/>
            <a:ext cx="2428876" cy="283582"/>
          </a:xfrm>
          <a:prstGeom prst="rect">
            <a:avLst/>
          </a:prstGeom>
          <a:noFill/>
          <a:ln>
            <a:noFill/>
          </a:ln>
        </p:spPr>
      </p:pic>
      <p:sp>
        <p:nvSpPr>
          <p:cNvPr id="107" name="Google Shape;107;p17"/>
          <p:cNvSpPr/>
          <p:nvPr/>
        </p:nvSpPr>
        <p:spPr>
          <a:xfrm>
            <a:off x="3218688" y="4718304"/>
            <a:ext cx="5440680" cy="347472"/>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650"/>
              <a:buFont typeface="Arial"/>
              <a:buNone/>
            </a:pPr>
            <a:r>
              <a:rPr b="0" i="0" lang="en" sz="650" u="none" cap="none" strike="noStrike">
                <a:solidFill>
                  <a:srgbClr val="FFFFFF"/>
                </a:solidFill>
                <a:latin typeface="Arial"/>
                <a:ea typeface="Arial"/>
                <a:cs typeface="Arial"/>
                <a:sym typeface="Arial"/>
              </a:rPr>
              <a:t>Sources: </a:t>
            </a:r>
            <a:r>
              <a:rPr lang="en" sz="650">
                <a:solidFill>
                  <a:srgbClr val="FFFFFF"/>
                </a:solidFill>
              </a:rPr>
              <a:t>Liberty Media Investor Presentations, FIA Financial Audits, Team B05 Analysis.</a:t>
            </a:r>
            <a:endParaRPr b="0" i="0" sz="1100" u="none" cap="none" strike="noStrike">
              <a:solidFill>
                <a:srgbClr val="000000"/>
              </a:solidFill>
              <a:latin typeface="Arial"/>
              <a:ea typeface="Arial"/>
              <a:cs typeface="Arial"/>
              <a:sym typeface="Arial"/>
            </a:endParaRPr>
          </a:p>
        </p:txBody>
      </p:sp>
      <p:pic>
        <p:nvPicPr>
          <p:cNvPr id="108" name="Google Shape;108;p17"/>
          <p:cNvPicPr preferRelativeResize="0"/>
          <p:nvPr/>
        </p:nvPicPr>
        <p:blipFill rotWithShape="1">
          <a:blip r:embed="rId6">
            <a:alphaModFix/>
          </a:blip>
          <a:srcRect b="0" l="0" r="0" t="0"/>
          <a:stretch/>
        </p:blipFill>
        <p:spPr>
          <a:xfrm flipH="1">
            <a:off x="7868858" y="3280600"/>
            <a:ext cx="1107267" cy="1660900"/>
          </a:xfrm>
          <a:prstGeom prst="rect">
            <a:avLst/>
          </a:prstGeom>
          <a:noFill/>
          <a:ln>
            <a:noFill/>
          </a:ln>
        </p:spPr>
      </p:pic>
      <p:sp>
        <p:nvSpPr>
          <p:cNvPr id="109" name="Google Shape;109;p17"/>
          <p:cNvSpPr/>
          <p:nvPr/>
        </p:nvSpPr>
        <p:spPr>
          <a:xfrm>
            <a:off x="3313176" y="1645920"/>
            <a:ext cx="2558796" cy="1600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109725">
            <a:noAutofit/>
          </a:bodyPr>
          <a:lstStyle/>
          <a:p>
            <a:pPr indent="0" lvl="0" marL="0" marR="0" rtl="0" algn="ctr">
              <a:lnSpc>
                <a:spcPct val="100000"/>
              </a:lnSpc>
              <a:spcBef>
                <a:spcPts val="0"/>
              </a:spcBef>
              <a:spcAft>
                <a:spcPts val="0"/>
              </a:spcAft>
              <a:buClr>
                <a:schemeClr val="dk1"/>
              </a:buClr>
              <a:buSzPts val="1100"/>
              <a:buFont typeface="Arial"/>
              <a:buNone/>
            </a:pPr>
            <a:r>
              <a:rPr b="1" i="0" lang="en" sz="1500" u="none" cap="none" strike="noStrike">
                <a:solidFill>
                  <a:srgbClr val="CC0000"/>
                </a:solidFill>
                <a:latin typeface="Arial"/>
                <a:ea typeface="Arial"/>
                <a:cs typeface="Arial"/>
                <a:sym typeface="Arial"/>
              </a:rPr>
              <a:t>SPONSORS</a:t>
            </a:r>
            <a:endParaRPr b="1" i="0" sz="1500" u="none" cap="none" strike="noStrike">
              <a:solidFill>
                <a:srgbClr val="CC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100"/>
              <a:buFont typeface="Arial"/>
              <a:buNone/>
            </a:pPr>
            <a:r>
              <a:rPr b="0" i="0" lang="en" sz="1500" u="none" cap="none" strike="noStrike">
                <a:solidFill>
                  <a:srgbClr val="202020"/>
                </a:solidFill>
                <a:latin typeface="Calibri"/>
                <a:ea typeface="Calibri"/>
                <a:cs typeface="Calibri"/>
                <a:sym typeface="Calibri"/>
              </a:rPr>
              <a:t>More teams competing near the front can create additional sponsorship opportunities.</a:t>
            </a:r>
            <a:endParaRPr b="0" i="0" sz="1500" u="none" cap="none" strike="noStrike">
              <a:solidFill>
                <a:srgbClr val="202020"/>
              </a:solidFill>
              <a:latin typeface="Calibri"/>
              <a:ea typeface="Calibri"/>
              <a:cs typeface="Calibri"/>
              <a:sym typeface="Calibri"/>
            </a:endParaRPr>
          </a:p>
        </p:txBody>
      </p:sp>
      <p:sp>
        <p:nvSpPr>
          <p:cNvPr id="110" name="Google Shape;110;p17"/>
          <p:cNvSpPr/>
          <p:nvPr/>
        </p:nvSpPr>
        <p:spPr>
          <a:xfrm>
            <a:off x="6100572" y="1645920"/>
            <a:ext cx="2558796" cy="1600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109725">
            <a:no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CC0000"/>
                </a:solidFill>
                <a:latin typeface="Arial"/>
                <a:ea typeface="Arial"/>
                <a:cs typeface="Arial"/>
                <a:sym typeface="Arial"/>
              </a:rPr>
              <a:t>F1 &amp; TEAMS</a:t>
            </a:r>
            <a:endParaRPr b="1" i="0" sz="1500" u="none" cap="none" strike="noStrike">
              <a:solidFill>
                <a:srgbClr val="CC0000"/>
              </a:solidFill>
              <a:latin typeface="Arial"/>
              <a:ea typeface="Arial"/>
              <a:cs typeface="Arial"/>
              <a:sym typeface="Arial"/>
            </a:endParaRPr>
          </a:p>
          <a:p>
            <a:pPr indent="0" lvl="0" marL="0" marR="0" rtl="0" algn="l">
              <a:lnSpc>
                <a:spcPct val="100000"/>
              </a:lnSpc>
              <a:spcBef>
                <a:spcPts val="1200"/>
              </a:spcBef>
              <a:spcAft>
                <a:spcPts val="1200"/>
              </a:spcAft>
              <a:buClr>
                <a:srgbClr val="000000"/>
              </a:buClr>
              <a:buSzPts val="1500"/>
              <a:buFont typeface="Arial"/>
              <a:buNone/>
            </a:pPr>
            <a:r>
              <a:rPr b="0" i="0" lang="en" sz="1500" u="none" cap="none" strike="noStrike">
                <a:solidFill>
                  <a:srgbClr val="202020"/>
                </a:solidFill>
                <a:latin typeface="Calibri"/>
                <a:ea typeface="Calibri"/>
                <a:cs typeface="Calibri"/>
                <a:sym typeface="Calibri"/>
              </a:rPr>
              <a:t>A more balanced grid can help smaller teams compete and strengthen F1's appeal.</a:t>
            </a:r>
            <a:endParaRPr b="0" i="0" sz="1500" u="none" cap="none" strike="noStrike">
              <a:solidFill>
                <a:srgbClr val="000000"/>
              </a:solidFill>
              <a:latin typeface="Calibri"/>
              <a:ea typeface="Calibri"/>
              <a:cs typeface="Calibri"/>
              <a:sym typeface="Calibri"/>
            </a:endParaRPr>
          </a:p>
        </p:txBody>
      </p:sp>
      <p:sp>
        <p:nvSpPr>
          <p:cNvPr id="111" name="Google Shape;111;p17"/>
          <p:cNvSpPr/>
          <p:nvPr/>
        </p:nvSpPr>
        <p:spPr>
          <a:xfrm>
            <a:off x="525780" y="1645920"/>
            <a:ext cx="2558796" cy="16002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7"/>
          <p:cNvSpPr txBox="1"/>
          <p:nvPr/>
        </p:nvSpPr>
        <p:spPr>
          <a:xfrm>
            <a:off x="525780" y="1645920"/>
            <a:ext cx="2558796" cy="1600200"/>
          </a:xfrm>
          <a:prstGeom prst="rect">
            <a:avLst/>
          </a:prstGeom>
          <a:noFill/>
          <a:ln>
            <a:noFill/>
          </a:ln>
        </p:spPr>
        <p:txBody>
          <a:bodyPr anchorCtr="0" anchor="t" bIns="169600" lIns="169600" spcFirstLastPara="1" rIns="169600" wrap="square" tIns="187900">
            <a:no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CC0000"/>
                </a:solidFill>
                <a:latin typeface="Arial"/>
                <a:ea typeface="Arial"/>
                <a:cs typeface="Arial"/>
                <a:sym typeface="Arial"/>
              </a:rPr>
              <a:t>FANS</a:t>
            </a:r>
            <a:endParaRPr b="1" i="0" sz="1500" u="none" cap="none" strike="noStrike">
              <a:solidFill>
                <a:srgbClr val="CC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500"/>
              <a:buFont typeface="Arial"/>
              <a:buNone/>
            </a:pPr>
            <a:r>
              <a:rPr b="0" i="0" lang="en" sz="1500" u="none" cap="none" strike="noStrike">
                <a:solidFill>
                  <a:srgbClr val="202020"/>
                </a:solidFill>
                <a:latin typeface="Calibri"/>
                <a:ea typeface="Calibri"/>
                <a:cs typeface="Calibri"/>
                <a:sym typeface="Calibri"/>
              </a:rPr>
              <a:t>Closer racing can make each race more exciting and keep fans engaged.</a:t>
            </a:r>
            <a:endParaRPr b="0" i="0" sz="1500" u="none" cap="none" strike="noStrike">
              <a:solidFill>
                <a:srgbClr val="202020"/>
              </a:solidFill>
              <a:latin typeface="Calibri"/>
              <a:ea typeface="Calibri"/>
              <a:cs typeface="Calibri"/>
              <a:sym typeface="Calibri"/>
            </a:endParaRPr>
          </a:p>
        </p:txBody>
      </p:sp>
      <p:sp>
        <p:nvSpPr>
          <p:cNvPr id="113" name="Google Shape;113;p17"/>
          <p:cNvSpPr txBox="1"/>
          <p:nvPr/>
        </p:nvSpPr>
        <p:spPr>
          <a:xfrm>
            <a:off x="457200" y="3474720"/>
            <a:ext cx="6766560" cy="64008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202020"/>
                </a:solidFill>
                <a:latin typeface="Arial"/>
                <a:ea typeface="Arial"/>
                <a:cs typeface="Arial"/>
                <a:sym typeface="Arial"/>
              </a:rPr>
              <a:t>Our focus: Did the cost-cap era spread competitive success across more teams?</a:t>
            </a:r>
            <a:endParaRPr b="1" i="0" sz="1600" u="none" cap="none" strike="noStrike">
              <a:solidFill>
                <a:srgbClr val="20202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 name="Shape 118"/>
        <p:cNvGrpSpPr/>
        <p:nvPr/>
      </p:nvGrpSpPr>
      <p:grpSpPr>
        <a:xfrm>
          <a:off x="0" y="0"/>
          <a:ext cx="0" cy="0"/>
          <a:chOff x="0" y="0"/>
          <a:chExt cx="0" cy="0"/>
        </a:xfrm>
      </p:grpSpPr>
      <p:pic>
        <p:nvPicPr>
          <p:cNvPr id="119" name="Google Shape;119;p18"/>
          <p:cNvPicPr preferRelativeResize="0"/>
          <p:nvPr/>
        </p:nvPicPr>
        <p:blipFill rotWithShape="1">
          <a:blip r:embed="rId3">
            <a:alphaModFix/>
          </a:blip>
          <a:srcRect b="20" l="0" r="0" t="30"/>
          <a:stretch/>
        </p:blipFill>
        <p:spPr>
          <a:xfrm>
            <a:off x="0" y="0"/>
            <a:ext cx="9144001" cy="5143499"/>
          </a:xfrm>
          <a:prstGeom prst="rect">
            <a:avLst/>
          </a:prstGeom>
          <a:noFill/>
          <a:ln cap="flat" cmpd="sng" w="9525">
            <a:solidFill>
              <a:schemeClr val="lt2"/>
            </a:solidFill>
            <a:prstDash val="solid"/>
            <a:round/>
            <a:headEnd len="sm" w="sm" type="none"/>
            <a:tailEnd len="sm" w="sm" type="none"/>
          </a:ln>
        </p:spPr>
      </p:pic>
      <p:sp>
        <p:nvSpPr>
          <p:cNvPr id="120" name="Google Shape;120;p18"/>
          <p:cNvSpPr/>
          <p:nvPr/>
        </p:nvSpPr>
        <p:spPr>
          <a:xfrm>
            <a:off x="457200" y="271463"/>
            <a:ext cx="7500900" cy="357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en" sz="2200">
                <a:solidFill>
                  <a:srgbClr val="2D2926"/>
                </a:solidFill>
              </a:rPr>
              <a:t>Data </a:t>
            </a:r>
            <a:r>
              <a:rPr b="1" lang="en" sz="2200">
                <a:solidFill>
                  <a:srgbClr val="2D2926"/>
                </a:solidFill>
              </a:rPr>
              <a:t>&amp; Measures</a:t>
            </a:r>
            <a:endParaRPr b="1" sz="2200">
              <a:solidFill>
                <a:srgbClr val="2D2926"/>
              </a:solidFill>
              <a:latin typeface="Arial"/>
              <a:ea typeface="Arial"/>
              <a:cs typeface="Arial"/>
              <a:sym typeface="Arial"/>
            </a:endParaRPr>
          </a:p>
        </p:txBody>
      </p:sp>
      <p:sp>
        <p:nvSpPr>
          <p:cNvPr id="121" name="Google Shape;121;p18"/>
          <p:cNvSpPr/>
          <p:nvPr/>
        </p:nvSpPr>
        <p:spPr>
          <a:xfrm>
            <a:off x="8186738" y="300038"/>
            <a:ext cx="471600" cy="2286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r>
              <a:rPr b="1" lang="en" sz="800">
                <a:solidFill>
                  <a:srgbClr val="CC0000"/>
                </a:solidFill>
              </a:rPr>
              <a:t>04</a:t>
            </a:r>
            <a:endParaRPr b="1" sz="800">
              <a:solidFill>
                <a:srgbClr val="CC0000"/>
              </a:solidFill>
              <a:latin typeface="Arial"/>
              <a:ea typeface="Arial"/>
              <a:cs typeface="Arial"/>
              <a:sym typeface="Arial"/>
            </a:endParaRPr>
          </a:p>
        </p:txBody>
      </p:sp>
      <p:sp>
        <p:nvSpPr>
          <p:cNvPr id="122" name="Google Shape;122;p18"/>
          <p:cNvSpPr/>
          <p:nvPr/>
        </p:nvSpPr>
        <p:spPr>
          <a:xfrm>
            <a:off x="500075" y="842975"/>
            <a:ext cx="6607800" cy="357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en" sz="1900">
                <a:solidFill>
                  <a:srgbClr val="CC0000"/>
                </a:solidFill>
              </a:rPr>
              <a:t>How did we clean our dataset and define our measures?</a:t>
            </a:r>
            <a:endParaRPr b="1" sz="1900">
              <a:solidFill>
                <a:srgbClr val="CC0000"/>
              </a:solidFill>
              <a:latin typeface="Arial"/>
              <a:ea typeface="Arial"/>
              <a:cs typeface="Arial"/>
              <a:sym typeface="Arial"/>
            </a:endParaRPr>
          </a:p>
        </p:txBody>
      </p:sp>
      <p:sp>
        <p:nvSpPr>
          <p:cNvPr id="123" name="Google Shape;123;p18"/>
          <p:cNvSpPr/>
          <p:nvPr/>
        </p:nvSpPr>
        <p:spPr>
          <a:xfrm>
            <a:off x="2117975" y="1708550"/>
            <a:ext cx="3372000" cy="2835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en" sz="1800">
                <a:solidFill>
                  <a:srgbClr val="2D2926"/>
                </a:solidFill>
              </a:rPr>
              <a:t>Data Measurement Overview</a:t>
            </a:r>
            <a:endParaRPr b="1" sz="1800">
              <a:solidFill>
                <a:srgbClr val="2D2926"/>
              </a:solidFill>
              <a:latin typeface="Arial"/>
              <a:ea typeface="Arial"/>
              <a:cs typeface="Arial"/>
              <a:sym typeface="Arial"/>
            </a:endParaRPr>
          </a:p>
        </p:txBody>
      </p:sp>
      <p:sp>
        <p:nvSpPr>
          <p:cNvPr id="124" name="Google Shape;124;p18"/>
          <p:cNvSpPr/>
          <p:nvPr/>
        </p:nvSpPr>
        <p:spPr>
          <a:xfrm>
            <a:off x="500045" y="2157425"/>
            <a:ext cx="2296500" cy="243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en" sz="1600">
                <a:solidFill>
                  <a:srgbClr val="CC0000"/>
                </a:solidFill>
              </a:rPr>
              <a:t>Data</a:t>
            </a:r>
            <a:endParaRPr b="1" sz="1600">
              <a:solidFill>
                <a:srgbClr val="CC0000"/>
              </a:solidFill>
              <a:latin typeface="Arial"/>
              <a:ea typeface="Arial"/>
              <a:cs typeface="Arial"/>
              <a:sym typeface="Arial"/>
            </a:endParaRPr>
          </a:p>
        </p:txBody>
      </p:sp>
      <p:sp>
        <p:nvSpPr>
          <p:cNvPr id="125" name="Google Shape;125;p18"/>
          <p:cNvSpPr/>
          <p:nvPr/>
        </p:nvSpPr>
        <p:spPr>
          <a:xfrm>
            <a:off x="4671995" y="2157425"/>
            <a:ext cx="2536500" cy="243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en" sz="1600">
                <a:solidFill>
                  <a:srgbClr val="8B8784"/>
                </a:solidFill>
              </a:rPr>
              <a:t>Measures</a:t>
            </a:r>
            <a:endParaRPr b="1" sz="1600">
              <a:solidFill>
                <a:srgbClr val="8B8784"/>
              </a:solidFill>
              <a:latin typeface="Arial"/>
              <a:ea typeface="Arial"/>
              <a:cs typeface="Arial"/>
              <a:sym typeface="Arial"/>
            </a:endParaRPr>
          </a:p>
        </p:txBody>
      </p:sp>
      <p:sp>
        <p:nvSpPr>
          <p:cNvPr id="126" name="Google Shape;126;p18"/>
          <p:cNvSpPr/>
          <p:nvPr/>
        </p:nvSpPr>
        <p:spPr>
          <a:xfrm>
            <a:off x="500063" y="2500313"/>
            <a:ext cx="142800" cy="214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000">
                <a:solidFill>
                  <a:srgbClr val="CC0000"/>
                </a:solidFill>
                <a:latin typeface="Arial"/>
                <a:ea typeface="Arial"/>
                <a:cs typeface="Arial"/>
                <a:sym typeface="Arial"/>
              </a:rPr>
              <a:t>•</a:t>
            </a:r>
            <a:endParaRPr sz="1100"/>
          </a:p>
        </p:txBody>
      </p:sp>
      <p:sp>
        <p:nvSpPr>
          <p:cNvPr id="127" name="Google Shape;127;p18"/>
          <p:cNvSpPr/>
          <p:nvPr/>
        </p:nvSpPr>
        <p:spPr>
          <a:xfrm>
            <a:off x="700088" y="2500388"/>
            <a:ext cx="3372000" cy="414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500">
                <a:solidFill>
                  <a:schemeClr val="dk1"/>
                </a:solidFill>
                <a:latin typeface="Calibri"/>
                <a:ea typeface="Calibri"/>
                <a:cs typeface="Calibri"/>
                <a:sym typeface="Calibri"/>
              </a:rPr>
              <a:t>Source: </a:t>
            </a:r>
            <a:r>
              <a:rPr lang="en" sz="1500">
                <a:solidFill>
                  <a:schemeClr val="dk1"/>
                </a:solidFill>
                <a:latin typeface="Calibri"/>
                <a:ea typeface="Calibri"/>
                <a:cs typeface="Calibri"/>
                <a:sym typeface="Calibri"/>
              </a:rPr>
              <a:t>F1DB constructor standings and Grand Prix results.</a:t>
            </a:r>
            <a:endParaRPr sz="1500">
              <a:latin typeface="Calibri"/>
              <a:ea typeface="Calibri"/>
              <a:cs typeface="Calibri"/>
              <a:sym typeface="Calibri"/>
            </a:endParaRPr>
          </a:p>
        </p:txBody>
      </p:sp>
      <p:sp>
        <p:nvSpPr>
          <p:cNvPr id="128" name="Google Shape;128;p18"/>
          <p:cNvSpPr/>
          <p:nvPr/>
        </p:nvSpPr>
        <p:spPr>
          <a:xfrm>
            <a:off x="500063" y="3014663"/>
            <a:ext cx="142800" cy="214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000">
                <a:solidFill>
                  <a:srgbClr val="CC0000"/>
                </a:solidFill>
                <a:latin typeface="Arial"/>
                <a:ea typeface="Arial"/>
                <a:cs typeface="Arial"/>
                <a:sym typeface="Arial"/>
              </a:rPr>
              <a:t>•</a:t>
            </a:r>
            <a:endParaRPr sz="1100"/>
          </a:p>
        </p:txBody>
      </p:sp>
      <p:sp>
        <p:nvSpPr>
          <p:cNvPr id="129" name="Google Shape;129;p18"/>
          <p:cNvSpPr/>
          <p:nvPr/>
        </p:nvSpPr>
        <p:spPr>
          <a:xfrm>
            <a:off x="700088" y="3014663"/>
            <a:ext cx="3372000" cy="414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500">
                <a:solidFill>
                  <a:schemeClr val="dk1"/>
                </a:solidFill>
                <a:latin typeface="Calibri"/>
                <a:ea typeface="Calibri"/>
                <a:cs typeface="Calibri"/>
                <a:sym typeface="Calibri"/>
              </a:rPr>
              <a:t>Pre-cap: </a:t>
            </a:r>
            <a:r>
              <a:rPr lang="en" sz="1500">
                <a:solidFill>
                  <a:schemeClr val="dk1"/>
                </a:solidFill>
                <a:latin typeface="Calibri"/>
                <a:ea typeface="Calibri"/>
                <a:cs typeface="Calibri"/>
                <a:sym typeface="Calibri"/>
              </a:rPr>
              <a:t>2010 - 2020 (11 seasons).</a:t>
            </a:r>
            <a:endParaRPr sz="15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130" name="Google Shape;130;p18"/>
          <p:cNvSpPr/>
          <p:nvPr/>
        </p:nvSpPr>
        <p:spPr>
          <a:xfrm>
            <a:off x="500063" y="3529013"/>
            <a:ext cx="142800" cy="214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000">
                <a:solidFill>
                  <a:srgbClr val="CC0000"/>
                </a:solidFill>
                <a:latin typeface="Arial"/>
                <a:ea typeface="Arial"/>
                <a:cs typeface="Arial"/>
                <a:sym typeface="Arial"/>
              </a:rPr>
              <a:t>•</a:t>
            </a:r>
            <a:endParaRPr sz="1100"/>
          </a:p>
        </p:txBody>
      </p:sp>
      <p:sp>
        <p:nvSpPr>
          <p:cNvPr id="131" name="Google Shape;131;p18"/>
          <p:cNvSpPr/>
          <p:nvPr/>
        </p:nvSpPr>
        <p:spPr>
          <a:xfrm>
            <a:off x="700088" y="3529013"/>
            <a:ext cx="3372000" cy="414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500">
                <a:solidFill>
                  <a:schemeClr val="dk1"/>
                </a:solidFill>
                <a:latin typeface="Calibri"/>
                <a:ea typeface="Calibri"/>
                <a:cs typeface="Calibri"/>
                <a:sym typeface="Calibri"/>
              </a:rPr>
              <a:t>Post-cap: </a:t>
            </a:r>
            <a:r>
              <a:rPr lang="en" sz="1500">
                <a:solidFill>
                  <a:schemeClr val="dk1"/>
                </a:solidFill>
                <a:latin typeface="Calibri"/>
                <a:ea typeface="Calibri"/>
                <a:cs typeface="Calibri"/>
                <a:sym typeface="Calibri"/>
              </a:rPr>
              <a:t>2021-2025 (5 Seasons).</a:t>
            </a:r>
            <a:endParaRPr sz="1500">
              <a:latin typeface="Calibri"/>
              <a:ea typeface="Calibri"/>
              <a:cs typeface="Calibri"/>
              <a:sym typeface="Calibri"/>
            </a:endParaRPr>
          </a:p>
        </p:txBody>
      </p:sp>
      <p:sp>
        <p:nvSpPr>
          <p:cNvPr id="132" name="Google Shape;132;p18"/>
          <p:cNvSpPr/>
          <p:nvPr/>
        </p:nvSpPr>
        <p:spPr>
          <a:xfrm>
            <a:off x="4672013" y="2500313"/>
            <a:ext cx="142800" cy="214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000">
                <a:solidFill>
                  <a:srgbClr val="8B8784"/>
                </a:solidFill>
                <a:latin typeface="Arial"/>
                <a:ea typeface="Arial"/>
                <a:cs typeface="Arial"/>
                <a:sym typeface="Arial"/>
              </a:rPr>
              <a:t>•</a:t>
            </a:r>
            <a:endParaRPr sz="1100"/>
          </a:p>
        </p:txBody>
      </p:sp>
      <p:sp>
        <p:nvSpPr>
          <p:cNvPr id="133" name="Google Shape;133;p18"/>
          <p:cNvSpPr/>
          <p:nvPr/>
        </p:nvSpPr>
        <p:spPr>
          <a:xfrm>
            <a:off x="4872038" y="2500313"/>
            <a:ext cx="3372000" cy="414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500">
                <a:solidFill>
                  <a:schemeClr val="dk1"/>
                </a:solidFill>
                <a:latin typeface="Calibri"/>
                <a:ea typeface="Calibri"/>
                <a:cs typeface="Calibri"/>
                <a:sym typeface="Calibri"/>
              </a:rPr>
              <a:t>Point share: </a:t>
            </a:r>
            <a:r>
              <a:rPr lang="en" sz="1500">
                <a:solidFill>
                  <a:schemeClr val="dk1"/>
                </a:solidFill>
                <a:latin typeface="Calibri"/>
                <a:ea typeface="Calibri"/>
                <a:cs typeface="Calibri"/>
                <a:sym typeface="Calibri"/>
              </a:rPr>
              <a:t>(team point / all team points in season) x 100. </a:t>
            </a:r>
            <a:endParaRPr sz="1500">
              <a:latin typeface="Calibri"/>
              <a:ea typeface="Calibri"/>
              <a:cs typeface="Calibri"/>
              <a:sym typeface="Calibri"/>
            </a:endParaRPr>
          </a:p>
        </p:txBody>
      </p:sp>
      <p:sp>
        <p:nvSpPr>
          <p:cNvPr id="134" name="Google Shape;134;p18"/>
          <p:cNvSpPr/>
          <p:nvPr/>
        </p:nvSpPr>
        <p:spPr>
          <a:xfrm>
            <a:off x="4672013" y="3014663"/>
            <a:ext cx="142800" cy="214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000">
                <a:solidFill>
                  <a:srgbClr val="8B8784"/>
                </a:solidFill>
                <a:latin typeface="Arial"/>
                <a:ea typeface="Arial"/>
                <a:cs typeface="Arial"/>
                <a:sym typeface="Arial"/>
              </a:rPr>
              <a:t>•</a:t>
            </a:r>
            <a:endParaRPr sz="1100"/>
          </a:p>
        </p:txBody>
      </p:sp>
      <p:sp>
        <p:nvSpPr>
          <p:cNvPr id="135" name="Google Shape;135;p18"/>
          <p:cNvSpPr/>
          <p:nvPr/>
        </p:nvSpPr>
        <p:spPr>
          <a:xfrm>
            <a:off x="4872038" y="3014663"/>
            <a:ext cx="3372000" cy="414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500">
                <a:solidFill>
                  <a:schemeClr val="dk1"/>
                </a:solidFill>
                <a:latin typeface="Calibri"/>
                <a:ea typeface="Calibri"/>
                <a:cs typeface="Calibri"/>
                <a:sym typeface="Calibri"/>
              </a:rPr>
              <a:t>Top-two share (CR2): </a:t>
            </a:r>
            <a:r>
              <a:rPr lang="en" sz="1500">
                <a:solidFill>
                  <a:schemeClr val="dk1"/>
                </a:solidFill>
                <a:latin typeface="Calibri"/>
                <a:ea typeface="Calibri"/>
                <a:cs typeface="Calibri"/>
                <a:sym typeface="Calibri"/>
              </a:rPr>
              <a:t>combined share of P1 and P2 .</a:t>
            </a:r>
            <a:endParaRPr sz="1500">
              <a:latin typeface="Calibri"/>
              <a:ea typeface="Calibri"/>
              <a:cs typeface="Calibri"/>
              <a:sym typeface="Calibri"/>
            </a:endParaRPr>
          </a:p>
        </p:txBody>
      </p:sp>
      <p:sp>
        <p:nvSpPr>
          <p:cNvPr id="136" name="Google Shape;136;p18"/>
          <p:cNvSpPr/>
          <p:nvPr/>
        </p:nvSpPr>
        <p:spPr>
          <a:xfrm>
            <a:off x="4672013" y="3529013"/>
            <a:ext cx="142800" cy="214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000">
                <a:solidFill>
                  <a:srgbClr val="8B8784"/>
                </a:solidFill>
                <a:latin typeface="Arial"/>
                <a:ea typeface="Arial"/>
                <a:cs typeface="Arial"/>
                <a:sym typeface="Arial"/>
              </a:rPr>
              <a:t>•</a:t>
            </a:r>
            <a:endParaRPr sz="1100"/>
          </a:p>
        </p:txBody>
      </p:sp>
      <p:sp>
        <p:nvSpPr>
          <p:cNvPr id="137" name="Google Shape;137;p18"/>
          <p:cNvSpPr/>
          <p:nvPr/>
        </p:nvSpPr>
        <p:spPr>
          <a:xfrm>
            <a:off x="4872038" y="3529013"/>
            <a:ext cx="3372000" cy="414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500">
                <a:solidFill>
                  <a:schemeClr val="dk1"/>
                </a:solidFill>
                <a:latin typeface="Calibri"/>
                <a:ea typeface="Calibri"/>
                <a:cs typeface="Calibri"/>
                <a:sym typeface="Calibri"/>
              </a:rPr>
              <a:t>Midfield Share: </a:t>
            </a:r>
            <a:r>
              <a:rPr lang="en" sz="1500">
                <a:solidFill>
                  <a:schemeClr val="dk1"/>
                </a:solidFill>
                <a:latin typeface="Calibri"/>
                <a:ea typeface="Calibri"/>
                <a:cs typeface="Calibri"/>
                <a:sym typeface="Calibri"/>
              </a:rPr>
              <a:t>combined share of P4 through P7.</a:t>
            </a:r>
            <a:endParaRPr sz="1500">
              <a:latin typeface="Calibri"/>
              <a:ea typeface="Calibri"/>
              <a:cs typeface="Calibri"/>
              <a:sym typeface="Calibri"/>
            </a:endParaRPr>
          </a:p>
        </p:txBody>
      </p:sp>
      <p:pic>
        <p:nvPicPr>
          <p:cNvPr id="138" name="Google Shape;138;p18"/>
          <p:cNvPicPr preferRelativeResize="0"/>
          <p:nvPr/>
        </p:nvPicPr>
        <p:blipFill rotWithShape="1">
          <a:blip r:embed="rId4">
            <a:alphaModFix/>
          </a:blip>
          <a:srcRect b="45280" l="0" r="0" t="45280"/>
          <a:stretch/>
        </p:blipFill>
        <p:spPr>
          <a:xfrm>
            <a:off x="0" y="4657725"/>
            <a:ext cx="9144001" cy="485775"/>
          </a:xfrm>
          <a:prstGeom prst="rect">
            <a:avLst/>
          </a:prstGeom>
          <a:noFill/>
          <a:ln>
            <a:noFill/>
          </a:ln>
        </p:spPr>
      </p:pic>
      <p:pic>
        <p:nvPicPr>
          <p:cNvPr id="139" name="Google Shape;139;p18"/>
          <p:cNvPicPr preferRelativeResize="0"/>
          <p:nvPr/>
        </p:nvPicPr>
        <p:blipFill rotWithShape="1">
          <a:blip r:embed="rId5">
            <a:alphaModFix/>
          </a:blip>
          <a:srcRect b="0" l="0" r="0" t="0"/>
          <a:stretch/>
        </p:blipFill>
        <p:spPr>
          <a:xfrm>
            <a:off x="457200" y="4787397"/>
            <a:ext cx="2428876" cy="283582"/>
          </a:xfrm>
          <a:prstGeom prst="rect">
            <a:avLst/>
          </a:prstGeom>
          <a:noFill/>
          <a:ln>
            <a:noFill/>
          </a:ln>
        </p:spPr>
      </p:pic>
      <p:sp>
        <p:nvSpPr>
          <p:cNvPr id="140" name="Google Shape;140;p18"/>
          <p:cNvSpPr/>
          <p:nvPr/>
        </p:nvSpPr>
        <p:spPr>
          <a:xfrm>
            <a:off x="500063" y="4043363"/>
            <a:ext cx="142800" cy="214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000">
                <a:solidFill>
                  <a:srgbClr val="CC0000"/>
                </a:solidFill>
                <a:latin typeface="Arial"/>
                <a:ea typeface="Arial"/>
                <a:cs typeface="Arial"/>
                <a:sym typeface="Arial"/>
              </a:rPr>
              <a:t>•</a:t>
            </a:r>
            <a:endParaRPr sz="1100"/>
          </a:p>
        </p:txBody>
      </p:sp>
      <p:sp>
        <p:nvSpPr>
          <p:cNvPr id="141" name="Google Shape;141;p18"/>
          <p:cNvSpPr/>
          <p:nvPr/>
        </p:nvSpPr>
        <p:spPr>
          <a:xfrm>
            <a:off x="700088" y="4002888"/>
            <a:ext cx="3372000" cy="414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Renamed teams grouped consistently.</a:t>
            </a:r>
            <a:endParaRPr sz="1500"/>
          </a:p>
        </p:txBody>
      </p:sp>
      <p:sp>
        <p:nvSpPr>
          <p:cNvPr id="142" name="Google Shape;142;p18"/>
          <p:cNvSpPr/>
          <p:nvPr/>
        </p:nvSpPr>
        <p:spPr>
          <a:xfrm>
            <a:off x="4672013" y="4043375"/>
            <a:ext cx="142800" cy="214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000">
                <a:solidFill>
                  <a:srgbClr val="8B8784"/>
                </a:solidFill>
                <a:latin typeface="Arial"/>
                <a:ea typeface="Arial"/>
                <a:cs typeface="Arial"/>
                <a:sym typeface="Arial"/>
              </a:rPr>
              <a:t>•</a:t>
            </a:r>
            <a:endParaRPr sz="1100"/>
          </a:p>
        </p:txBody>
      </p:sp>
      <p:sp>
        <p:nvSpPr>
          <p:cNvPr id="143" name="Google Shape;143;p18"/>
          <p:cNvSpPr/>
          <p:nvPr/>
        </p:nvSpPr>
        <p:spPr>
          <a:xfrm>
            <a:off x="4872038" y="4002888"/>
            <a:ext cx="3372000" cy="414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en" sz="1500">
                <a:solidFill>
                  <a:schemeClr val="dk1"/>
                </a:solidFill>
                <a:latin typeface="Calibri"/>
                <a:ea typeface="Calibri"/>
                <a:cs typeface="Calibri"/>
                <a:sym typeface="Calibri"/>
              </a:rPr>
              <a:t>Big Three Share: </a:t>
            </a:r>
            <a:r>
              <a:rPr lang="en" sz="1500">
                <a:solidFill>
                  <a:schemeClr val="dk1"/>
                </a:solidFill>
                <a:latin typeface="Calibri"/>
                <a:ea typeface="Calibri"/>
                <a:cs typeface="Calibri"/>
                <a:sym typeface="Calibri"/>
              </a:rPr>
              <a:t>combined points share of Ferrari, Mercedes, and Red Bull.</a:t>
            </a:r>
            <a:r>
              <a:rPr b="1" lang="en" sz="1500">
                <a:solidFill>
                  <a:schemeClr val="dk1"/>
                </a:solidFill>
                <a:latin typeface="Calibri"/>
                <a:ea typeface="Calibri"/>
                <a:cs typeface="Calibri"/>
                <a:sym typeface="Calibri"/>
              </a:rPr>
              <a:t> </a:t>
            </a:r>
            <a:endParaRPr b="1" sz="1500">
              <a:latin typeface="Calibri"/>
              <a:ea typeface="Calibri"/>
              <a:cs typeface="Calibri"/>
              <a:sym typeface="Calibri"/>
            </a:endParaRPr>
          </a:p>
        </p:txBody>
      </p:sp>
      <p:pic>
        <p:nvPicPr>
          <p:cNvPr id="144" name="Google Shape;144;p18"/>
          <p:cNvPicPr preferRelativeResize="0"/>
          <p:nvPr/>
        </p:nvPicPr>
        <p:blipFill>
          <a:blip r:embed="rId6">
            <a:alphaModFix/>
          </a:blip>
          <a:stretch>
            <a:fillRect/>
          </a:stretch>
        </p:blipFill>
        <p:spPr>
          <a:xfrm>
            <a:off x="1232375" y="1325575"/>
            <a:ext cx="831850" cy="831850"/>
          </a:xfrm>
          <a:prstGeom prst="rect">
            <a:avLst/>
          </a:prstGeom>
          <a:noFill/>
          <a:ln>
            <a:noFill/>
          </a:ln>
        </p:spPr>
      </p:pic>
      <p:pic>
        <p:nvPicPr>
          <p:cNvPr id="145" name="Google Shape;145;p18"/>
          <p:cNvPicPr preferRelativeResize="0"/>
          <p:nvPr/>
        </p:nvPicPr>
        <p:blipFill>
          <a:blip r:embed="rId7">
            <a:alphaModFix/>
          </a:blip>
          <a:stretch>
            <a:fillRect/>
          </a:stretch>
        </p:blipFill>
        <p:spPr>
          <a:xfrm>
            <a:off x="5309850" y="1093026"/>
            <a:ext cx="2226800" cy="1177951"/>
          </a:xfrm>
          <a:prstGeom prst="rect">
            <a:avLst/>
          </a:prstGeom>
          <a:noFill/>
          <a:ln>
            <a:noFill/>
          </a:ln>
        </p:spPr>
      </p:pic>
      <p:sp>
        <p:nvSpPr>
          <p:cNvPr id="146" name="Google Shape;146;p18"/>
          <p:cNvSpPr/>
          <p:nvPr/>
        </p:nvSpPr>
        <p:spPr>
          <a:xfrm>
            <a:off x="3218688" y="4718304"/>
            <a:ext cx="5440800" cy="3474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650"/>
              <a:buFont typeface="Arial"/>
              <a:buNone/>
            </a:pPr>
            <a:r>
              <a:rPr b="0" i="0" lang="en" sz="650" u="none" cap="none" strike="noStrike">
                <a:solidFill>
                  <a:srgbClr val="FFFFFF"/>
                </a:solidFill>
                <a:latin typeface="Arial"/>
                <a:ea typeface="Arial"/>
                <a:cs typeface="Arial"/>
                <a:sym typeface="Arial"/>
              </a:rPr>
              <a:t>Sources: F1DB contributors, release v2026.15.1 (github.com/f1db/f1db), CC BY 4.0; Formula 1, “Racing Point Force India entry” (formula1.com).</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19"/>
          <p:cNvPicPr preferRelativeResize="0"/>
          <p:nvPr/>
        </p:nvPicPr>
        <p:blipFill rotWithShape="1">
          <a:blip r:embed="rId3">
            <a:alphaModFix/>
          </a:blip>
          <a:srcRect b="27" l="0" r="0" t="27"/>
          <a:stretch/>
        </p:blipFill>
        <p:spPr>
          <a:xfrm>
            <a:off x="0" y="0"/>
            <a:ext cx="9144000" cy="5143500"/>
          </a:xfrm>
          <a:prstGeom prst="rect">
            <a:avLst/>
          </a:prstGeom>
          <a:noFill/>
          <a:ln cap="flat" cmpd="sng" w="9525">
            <a:solidFill>
              <a:schemeClr val="lt2"/>
            </a:solidFill>
            <a:prstDash val="solid"/>
            <a:round/>
            <a:headEnd len="sm" w="sm" type="none"/>
            <a:tailEnd len="sm" w="sm" type="none"/>
          </a:ln>
        </p:spPr>
      </p:pic>
      <p:sp>
        <p:nvSpPr>
          <p:cNvPr id="153" name="Google Shape;153;p19"/>
          <p:cNvSpPr/>
          <p:nvPr/>
        </p:nvSpPr>
        <p:spPr>
          <a:xfrm>
            <a:off x="457200" y="246888"/>
            <a:ext cx="7498080" cy="356616"/>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2D2926"/>
                </a:solidFill>
                <a:latin typeface="Arial"/>
                <a:ea typeface="Arial"/>
                <a:cs typeface="Arial"/>
                <a:sym typeface="Arial"/>
              </a:rPr>
              <a:t>Top-team Concentration Fell Slightly </a:t>
            </a:r>
            <a:endParaRPr b="1" i="0" sz="2200" u="none" cap="none" strike="noStrike">
              <a:solidFill>
                <a:srgbClr val="2D2926"/>
              </a:solidFill>
              <a:latin typeface="Arial"/>
              <a:ea typeface="Arial"/>
              <a:cs typeface="Arial"/>
              <a:sym typeface="Arial"/>
            </a:endParaRPr>
          </a:p>
        </p:txBody>
      </p:sp>
      <p:sp>
        <p:nvSpPr>
          <p:cNvPr id="154" name="Google Shape;154;p19"/>
          <p:cNvSpPr/>
          <p:nvPr/>
        </p:nvSpPr>
        <p:spPr>
          <a:xfrm>
            <a:off x="8186738" y="300038"/>
            <a:ext cx="471488" cy="228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rgbClr val="CC0000"/>
                </a:solidFill>
                <a:latin typeface="Arial"/>
                <a:ea typeface="Arial"/>
                <a:cs typeface="Arial"/>
                <a:sym typeface="Arial"/>
              </a:rPr>
              <a:t>05</a:t>
            </a:r>
            <a:endParaRPr b="1" i="0" sz="800" u="none" cap="none" strike="noStrike">
              <a:solidFill>
                <a:srgbClr val="CC0000"/>
              </a:solidFill>
              <a:latin typeface="Arial"/>
              <a:ea typeface="Arial"/>
              <a:cs typeface="Arial"/>
              <a:sym typeface="Arial"/>
            </a:endParaRPr>
          </a:p>
        </p:txBody>
      </p:sp>
      <p:sp>
        <p:nvSpPr>
          <p:cNvPr id="155" name="Google Shape;155;p19"/>
          <p:cNvSpPr/>
          <p:nvPr/>
        </p:nvSpPr>
        <p:spPr>
          <a:xfrm>
            <a:off x="1243013" y="1464469"/>
            <a:ext cx="3000375" cy="21431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6B6865"/>
              </a:solidFill>
              <a:latin typeface="Arial"/>
              <a:ea typeface="Arial"/>
              <a:cs typeface="Arial"/>
              <a:sym typeface="Arial"/>
            </a:endParaRPr>
          </a:p>
        </p:txBody>
      </p:sp>
      <p:sp>
        <p:nvSpPr>
          <p:cNvPr id="156" name="Google Shape;156;p19"/>
          <p:cNvSpPr/>
          <p:nvPr/>
        </p:nvSpPr>
        <p:spPr>
          <a:xfrm>
            <a:off x="600075" y="4157663"/>
            <a:ext cx="7915275" cy="2571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2D2926"/>
              </a:solidFill>
              <a:latin typeface="Arial"/>
              <a:ea typeface="Arial"/>
              <a:cs typeface="Arial"/>
              <a:sym typeface="Arial"/>
            </a:endParaRPr>
          </a:p>
        </p:txBody>
      </p:sp>
      <p:pic>
        <p:nvPicPr>
          <p:cNvPr id="157" name="Google Shape;157;p19"/>
          <p:cNvPicPr preferRelativeResize="0"/>
          <p:nvPr/>
        </p:nvPicPr>
        <p:blipFill rotWithShape="1">
          <a:blip r:embed="rId4">
            <a:alphaModFix/>
          </a:blip>
          <a:srcRect b="45280" l="0" r="0" t="45280"/>
          <a:stretch/>
        </p:blipFill>
        <p:spPr>
          <a:xfrm>
            <a:off x="0" y="4657725"/>
            <a:ext cx="9144000" cy="485775"/>
          </a:xfrm>
          <a:prstGeom prst="rect">
            <a:avLst/>
          </a:prstGeom>
          <a:noFill/>
          <a:ln>
            <a:noFill/>
          </a:ln>
        </p:spPr>
      </p:pic>
      <p:pic>
        <p:nvPicPr>
          <p:cNvPr id="158" name="Google Shape;158;p19"/>
          <p:cNvPicPr preferRelativeResize="0"/>
          <p:nvPr/>
        </p:nvPicPr>
        <p:blipFill rotWithShape="1">
          <a:blip r:embed="rId5">
            <a:alphaModFix/>
          </a:blip>
          <a:srcRect b="0" l="0" r="0" t="0"/>
          <a:stretch/>
        </p:blipFill>
        <p:spPr>
          <a:xfrm>
            <a:off x="457200" y="4787397"/>
            <a:ext cx="2428875" cy="283582"/>
          </a:xfrm>
          <a:prstGeom prst="rect">
            <a:avLst/>
          </a:prstGeom>
          <a:noFill/>
          <a:ln>
            <a:noFill/>
          </a:ln>
        </p:spPr>
      </p:pic>
      <p:sp>
        <p:nvSpPr>
          <p:cNvPr id="159" name="Google Shape;159;p19"/>
          <p:cNvSpPr/>
          <p:nvPr/>
        </p:nvSpPr>
        <p:spPr>
          <a:xfrm>
            <a:off x="3218688" y="4718304"/>
            <a:ext cx="5440680" cy="347472"/>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r>
              <a:rPr b="0" i="0" lang="en" sz="650" u="none" cap="none" strike="noStrike">
                <a:solidFill>
                  <a:srgbClr val="FFFFFF"/>
                </a:solidFill>
                <a:latin typeface="Arial"/>
                <a:ea typeface="Arial"/>
                <a:cs typeface="Arial"/>
                <a:sym typeface="Arial"/>
              </a:rPr>
              <a:t>Sources: F1DB contributors, release v2026.15.1 (github.com/f1db/f1db), CC BY 4.0, filtered and aggregated by the team; SciPy developers, scipy.stats.ttest_ind (Welch’s test).</a:t>
            </a:r>
            <a:endParaRPr b="0" i="0" sz="500" u="none" cap="none" strike="noStrike">
              <a:solidFill>
                <a:srgbClr val="FFFFFF"/>
              </a:solidFill>
              <a:latin typeface="Arial"/>
              <a:ea typeface="Arial"/>
              <a:cs typeface="Arial"/>
              <a:sym typeface="Arial"/>
            </a:endParaRPr>
          </a:p>
        </p:txBody>
      </p:sp>
      <p:pic>
        <p:nvPicPr>
          <p:cNvPr descr="n_1.png" id="160" name="Google Shape;160;p19"/>
          <p:cNvPicPr preferRelativeResize="0"/>
          <p:nvPr/>
        </p:nvPicPr>
        <p:blipFill rotWithShape="1">
          <a:blip r:embed="rId6">
            <a:alphaModFix/>
          </a:blip>
          <a:srcRect b="0" l="0" r="0" t="0"/>
          <a:stretch/>
        </p:blipFill>
        <p:spPr>
          <a:xfrm>
            <a:off x="411480" y="1024128"/>
            <a:ext cx="4069080" cy="3502152"/>
          </a:xfrm>
          <a:prstGeom prst="rect">
            <a:avLst/>
          </a:prstGeom>
          <a:noFill/>
          <a:ln cap="flat" cmpd="sng" w="9525">
            <a:solidFill>
              <a:srgbClr val="FF0000"/>
            </a:solidFill>
            <a:prstDash val="solid"/>
            <a:round/>
            <a:headEnd len="sm" w="sm" type="none"/>
            <a:tailEnd len="sm" w="sm" type="none"/>
          </a:ln>
        </p:spPr>
      </p:pic>
      <p:pic>
        <p:nvPicPr>
          <p:cNvPr descr="n_5.png" id="161" name="Google Shape;161;p19"/>
          <p:cNvPicPr preferRelativeResize="0"/>
          <p:nvPr/>
        </p:nvPicPr>
        <p:blipFill rotWithShape="1">
          <a:blip r:embed="rId7">
            <a:alphaModFix/>
          </a:blip>
          <a:srcRect b="0" l="0" r="0" t="0"/>
          <a:stretch/>
        </p:blipFill>
        <p:spPr>
          <a:xfrm>
            <a:off x="4663440" y="1024128"/>
            <a:ext cx="4069080" cy="3502152"/>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0"/>
          <p:cNvPicPr preferRelativeResize="0"/>
          <p:nvPr/>
        </p:nvPicPr>
        <p:blipFill rotWithShape="1">
          <a:blip r:embed="rId3">
            <a:alphaModFix/>
          </a:blip>
          <a:srcRect b="27" l="0" r="0" t="27"/>
          <a:stretch/>
        </p:blipFill>
        <p:spPr>
          <a:xfrm>
            <a:off x="0" y="0"/>
            <a:ext cx="9144000" cy="5143500"/>
          </a:xfrm>
          <a:prstGeom prst="rect">
            <a:avLst/>
          </a:prstGeom>
          <a:noFill/>
          <a:ln cap="flat" cmpd="sng" w="9525">
            <a:solidFill>
              <a:schemeClr val="lt2"/>
            </a:solidFill>
            <a:prstDash val="solid"/>
            <a:round/>
            <a:headEnd len="sm" w="sm" type="none"/>
            <a:tailEnd len="sm" w="sm" type="none"/>
          </a:ln>
        </p:spPr>
      </p:pic>
      <p:sp>
        <p:nvSpPr>
          <p:cNvPr id="168" name="Google Shape;168;p20"/>
          <p:cNvSpPr/>
          <p:nvPr/>
        </p:nvSpPr>
        <p:spPr>
          <a:xfrm>
            <a:off x="457200" y="246888"/>
            <a:ext cx="7498080" cy="356616"/>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2D2926"/>
                </a:solidFill>
                <a:latin typeface="Arial"/>
                <a:ea typeface="Arial"/>
                <a:cs typeface="Arial"/>
                <a:sym typeface="Arial"/>
              </a:rPr>
              <a:t>Gains were Concentrated in a Few Teams</a:t>
            </a:r>
            <a:endParaRPr b="1" i="0" sz="2200" u="none" cap="none" strike="noStrike">
              <a:solidFill>
                <a:srgbClr val="2D2926"/>
              </a:solidFill>
              <a:latin typeface="Arial"/>
              <a:ea typeface="Arial"/>
              <a:cs typeface="Arial"/>
              <a:sym typeface="Arial"/>
            </a:endParaRPr>
          </a:p>
        </p:txBody>
      </p:sp>
      <p:sp>
        <p:nvSpPr>
          <p:cNvPr id="169" name="Google Shape;169;p20"/>
          <p:cNvSpPr/>
          <p:nvPr/>
        </p:nvSpPr>
        <p:spPr>
          <a:xfrm>
            <a:off x="8186738" y="300038"/>
            <a:ext cx="471488" cy="228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rgbClr val="CC0000"/>
                </a:solidFill>
                <a:latin typeface="Arial"/>
                <a:ea typeface="Arial"/>
                <a:cs typeface="Arial"/>
                <a:sym typeface="Arial"/>
              </a:rPr>
              <a:t>06</a:t>
            </a:r>
            <a:endParaRPr b="0" i="0" sz="1100" u="none" cap="none" strike="noStrike">
              <a:solidFill>
                <a:srgbClr val="000000"/>
              </a:solidFill>
              <a:latin typeface="Arial"/>
              <a:ea typeface="Arial"/>
              <a:cs typeface="Arial"/>
              <a:sym typeface="Arial"/>
            </a:endParaRPr>
          </a:p>
        </p:txBody>
      </p:sp>
      <p:sp>
        <p:nvSpPr>
          <p:cNvPr id="170" name="Google Shape;170;p20"/>
          <p:cNvSpPr/>
          <p:nvPr/>
        </p:nvSpPr>
        <p:spPr>
          <a:xfrm>
            <a:off x="1243013" y="1464469"/>
            <a:ext cx="3000375" cy="21431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6B6865"/>
              </a:solidFill>
              <a:latin typeface="Arial"/>
              <a:ea typeface="Arial"/>
              <a:cs typeface="Arial"/>
              <a:sym typeface="Arial"/>
            </a:endParaRPr>
          </a:p>
        </p:txBody>
      </p:sp>
      <p:sp>
        <p:nvSpPr>
          <p:cNvPr id="171" name="Google Shape;171;p20"/>
          <p:cNvSpPr/>
          <p:nvPr/>
        </p:nvSpPr>
        <p:spPr>
          <a:xfrm>
            <a:off x="600075" y="4157663"/>
            <a:ext cx="7915275" cy="2571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2D2926"/>
              </a:solidFill>
              <a:latin typeface="Arial"/>
              <a:ea typeface="Arial"/>
              <a:cs typeface="Arial"/>
              <a:sym typeface="Arial"/>
            </a:endParaRPr>
          </a:p>
        </p:txBody>
      </p:sp>
      <p:pic>
        <p:nvPicPr>
          <p:cNvPr id="172" name="Google Shape;172;p20"/>
          <p:cNvPicPr preferRelativeResize="0"/>
          <p:nvPr/>
        </p:nvPicPr>
        <p:blipFill rotWithShape="1">
          <a:blip r:embed="rId4">
            <a:alphaModFix/>
          </a:blip>
          <a:srcRect b="45280" l="0" r="0" t="45280"/>
          <a:stretch/>
        </p:blipFill>
        <p:spPr>
          <a:xfrm>
            <a:off x="0" y="4657725"/>
            <a:ext cx="9144000" cy="485775"/>
          </a:xfrm>
          <a:prstGeom prst="rect">
            <a:avLst/>
          </a:prstGeom>
          <a:noFill/>
          <a:ln>
            <a:noFill/>
          </a:ln>
        </p:spPr>
      </p:pic>
      <p:pic>
        <p:nvPicPr>
          <p:cNvPr id="173" name="Google Shape;173;p20"/>
          <p:cNvPicPr preferRelativeResize="0"/>
          <p:nvPr/>
        </p:nvPicPr>
        <p:blipFill rotWithShape="1">
          <a:blip r:embed="rId5">
            <a:alphaModFix/>
          </a:blip>
          <a:srcRect b="0" l="0" r="0" t="0"/>
          <a:stretch/>
        </p:blipFill>
        <p:spPr>
          <a:xfrm>
            <a:off x="457200" y="4787397"/>
            <a:ext cx="2428875" cy="283582"/>
          </a:xfrm>
          <a:prstGeom prst="rect">
            <a:avLst/>
          </a:prstGeom>
          <a:noFill/>
          <a:ln>
            <a:noFill/>
          </a:ln>
        </p:spPr>
      </p:pic>
      <p:sp>
        <p:nvSpPr>
          <p:cNvPr id="174" name="Google Shape;174;p20"/>
          <p:cNvSpPr/>
          <p:nvPr/>
        </p:nvSpPr>
        <p:spPr>
          <a:xfrm>
            <a:off x="3218688" y="4718304"/>
            <a:ext cx="5440680" cy="347472"/>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r>
              <a:rPr b="0" i="0" lang="en" sz="650" u="none" cap="none" strike="noStrike">
                <a:solidFill>
                  <a:srgbClr val="FFFFFF"/>
                </a:solidFill>
                <a:latin typeface="Arial"/>
                <a:ea typeface="Arial"/>
                <a:cs typeface="Arial"/>
                <a:sym typeface="Arial"/>
              </a:rPr>
              <a:t>Sources: F1DB contributors, release v2026.15.1 (github.com/f1db/f1db), CC BY 4.0; Formula 1, “McLaren year by year” (formula1.com), for McLaren’s 2024 and 2025 constructors’ titles.</a:t>
            </a:r>
            <a:endParaRPr b="0" i="0" sz="500" u="none" cap="none" strike="noStrike">
              <a:solidFill>
                <a:srgbClr val="FFFFFF"/>
              </a:solidFill>
              <a:latin typeface="Arial"/>
              <a:ea typeface="Arial"/>
              <a:cs typeface="Arial"/>
              <a:sym typeface="Arial"/>
            </a:endParaRPr>
          </a:p>
        </p:txBody>
      </p:sp>
      <p:pic>
        <p:nvPicPr>
          <p:cNvPr descr="n_2.png" id="175" name="Google Shape;175;p20"/>
          <p:cNvPicPr preferRelativeResize="0"/>
          <p:nvPr/>
        </p:nvPicPr>
        <p:blipFill rotWithShape="1">
          <a:blip r:embed="rId6">
            <a:alphaModFix/>
          </a:blip>
          <a:srcRect b="0" l="0" r="0" t="0"/>
          <a:stretch/>
        </p:blipFill>
        <p:spPr>
          <a:xfrm>
            <a:off x="411480" y="1024128"/>
            <a:ext cx="4069080" cy="3502152"/>
          </a:xfrm>
          <a:prstGeom prst="rect">
            <a:avLst/>
          </a:prstGeom>
          <a:noFill/>
          <a:ln cap="flat" cmpd="sng" w="9525">
            <a:solidFill>
              <a:srgbClr val="FF0000"/>
            </a:solidFill>
            <a:prstDash val="solid"/>
            <a:round/>
            <a:headEnd len="sm" w="sm" type="none"/>
            <a:tailEnd len="sm" w="sm" type="none"/>
          </a:ln>
        </p:spPr>
      </p:pic>
      <p:pic>
        <p:nvPicPr>
          <p:cNvPr descr="n_6.png" id="176" name="Google Shape;176;p20"/>
          <p:cNvPicPr preferRelativeResize="0"/>
          <p:nvPr/>
        </p:nvPicPr>
        <p:blipFill rotWithShape="1">
          <a:blip r:embed="rId7">
            <a:alphaModFix/>
          </a:blip>
          <a:srcRect b="0" l="0" r="0" t="0"/>
          <a:stretch/>
        </p:blipFill>
        <p:spPr>
          <a:xfrm>
            <a:off x="4663440" y="1024128"/>
            <a:ext cx="4069080" cy="3502152"/>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1"/>
          <p:cNvPicPr preferRelativeResize="0"/>
          <p:nvPr/>
        </p:nvPicPr>
        <p:blipFill rotWithShape="1">
          <a:blip r:embed="rId3">
            <a:alphaModFix/>
          </a:blip>
          <a:srcRect b="27" l="0" r="0" t="27"/>
          <a:stretch/>
        </p:blipFill>
        <p:spPr>
          <a:xfrm>
            <a:off x="0" y="0"/>
            <a:ext cx="9144000" cy="5143500"/>
          </a:xfrm>
          <a:prstGeom prst="rect">
            <a:avLst/>
          </a:prstGeom>
          <a:noFill/>
          <a:ln cap="flat" cmpd="sng" w="9525">
            <a:solidFill>
              <a:schemeClr val="lt2"/>
            </a:solidFill>
            <a:prstDash val="solid"/>
            <a:round/>
            <a:headEnd len="sm" w="sm" type="none"/>
            <a:tailEnd len="sm" w="sm" type="none"/>
          </a:ln>
        </p:spPr>
      </p:pic>
      <p:pic>
        <p:nvPicPr>
          <p:cNvPr descr="n_12.png" id="183" name="Google Shape;183;p21"/>
          <p:cNvPicPr preferRelativeResize="0"/>
          <p:nvPr/>
        </p:nvPicPr>
        <p:blipFill rotWithShape="1">
          <a:blip r:embed="rId4">
            <a:alphaModFix/>
          </a:blip>
          <a:srcRect b="0" l="0" r="0" t="0"/>
          <a:stretch/>
        </p:blipFill>
        <p:spPr>
          <a:xfrm>
            <a:off x="411480" y="1024128"/>
            <a:ext cx="4069080" cy="3502152"/>
          </a:xfrm>
          <a:prstGeom prst="rect">
            <a:avLst/>
          </a:prstGeom>
          <a:noFill/>
          <a:ln cap="flat" cmpd="sng" w="9525">
            <a:solidFill>
              <a:srgbClr val="FF0000"/>
            </a:solidFill>
            <a:prstDash val="solid"/>
            <a:round/>
            <a:headEnd len="sm" w="sm" type="none"/>
            <a:tailEnd len="sm" w="sm" type="none"/>
          </a:ln>
        </p:spPr>
      </p:pic>
      <p:pic>
        <p:nvPicPr>
          <p:cNvPr descr="n_13.png" id="184" name="Google Shape;184;p21"/>
          <p:cNvPicPr preferRelativeResize="0"/>
          <p:nvPr/>
        </p:nvPicPr>
        <p:blipFill rotWithShape="1">
          <a:blip r:embed="rId5">
            <a:alphaModFix/>
          </a:blip>
          <a:srcRect b="0" l="0" r="0" t="0"/>
          <a:stretch/>
        </p:blipFill>
        <p:spPr>
          <a:xfrm>
            <a:off x="4663440" y="1024128"/>
            <a:ext cx="4069080" cy="3502152"/>
          </a:xfrm>
          <a:prstGeom prst="rect">
            <a:avLst/>
          </a:prstGeom>
          <a:noFill/>
          <a:ln cap="flat" cmpd="sng" w="9525">
            <a:solidFill>
              <a:srgbClr val="FF0000"/>
            </a:solidFill>
            <a:prstDash val="solid"/>
            <a:round/>
            <a:headEnd len="sm" w="sm" type="none"/>
            <a:tailEnd len="sm" w="sm" type="none"/>
          </a:ln>
        </p:spPr>
      </p:pic>
      <p:sp>
        <p:nvSpPr>
          <p:cNvPr id="185" name="Google Shape;185;p21"/>
          <p:cNvSpPr/>
          <p:nvPr/>
        </p:nvSpPr>
        <p:spPr>
          <a:xfrm>
            <a:off x="457200" y="246888"/>
            <a:ext cx="4297680" cy="658368"/>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000000"/>
              </a:buClr>
              <a:buSzPts val="2200"/>
              <a:buFont typeface="Arial"/>
              <a:buNone/>
            </a:pPr>
            <a:r>
              <a:rPr b="1" i="0" lang="en" sz="2200" u="none" cap="none" strike="noStrike">
                <a:solidFill>
                  <a:srgbClr val="2D2926"/>
                </a:solidFill>
                <a:latin typeface="Arial"/>
                <a:ea typeface="Arial"/>
                <a:cs typeface="Arial"/>
                <a:sym typeface="Arial"/>
              </a:rPr>
              <a:t>More Teams Reached Podium, Wins Remain Concentrated</a:t>
            </a:r>
            <a:endParaRPr b="1" i="0" sz="2200" u="none" cap="none" strike="noStrike">
              <a:solidFill>
                <a:srgbClr val="2D2926"/>
              </a:solidFill>
              <a:latin typeface="Arial"/>
              <a:ea typeface="Arial"/>
              <a:cs typeface="Arial"/>
              <a:sym typeface="Arial"/>
            </a:endParaRPr>
          </a:p>
        </p:txBody>
      </p:sp>
      <p:sp>
        <p:nvSpPr>
          <p:cNvPr id="186" name="Google Shape;186;p21"/>
          <p:cNvSpPr/>
          <p:nvPr/>
        </p:nvSpPr>
        <p:spPr>
          <a:xfrm>
            <a:off x="8186738" y="300038"/>
            <a:ext cx="471488" cy="228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rgbClr val="CC0000"/>
                </a:solidFill>
                <a:latin typeface="Arial"/>
                <a:ea typeface="Arial"/>
                <a:cs typeface="Arial"/>
                <a:sym typeface="Arial"/>
              </a:rPr>
              <a:t>07</a:t>
            </a:r>
            <a:endParaRPr b="1" i="0" sz="800" u="none" cap="none" strike="noStrike">
              <a:solidFill>
                <a:srgbClr val="CC0000"/>
              </a:solidFill>
              <a:latin typeface="Arial"/>
              <a:ea typeface="Arial"/>
              <a:cs typeface="Arial"/>
              <a:sym typeface="Arial"/>
            </a:endParaRPr>
          </a:p>
        </p:txBody>
      </p:sp>
      <p:sp>
        <p:nvSpPr>
          <p:cNvPr id="187" name="Google Shape;187;p21"/>
          <p:cNvSpPr/>
          <p:nvPr/>
        </p:nvSpPr>
        <p:spPr>
          <a:xfrm>
            <a:off x="1243013" y="1464469"/>
            <a:ext cx="3000375" cy="21431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6B6865"/>
              </a:solidFill>
              <a:latin typeface="Arial"/>
              <a:ea typeface="Arial"/>
              <a:cs typeface="Arial"/>
              <a:sym typeface="Arial"/>
            </a:endParaRPr>
          </a:p>
        </p:txBody>
      </p:sp>
      <p:sp>
        <p:nvSpPr>
          <p:cNvPr id="188" name="Google Shape;188;p21"/>
          <p:cNvSpPr/>
          <p:nvPr/>
        </p:nvSpPr>
        <p:spPr>
          <a:xfrm>
            <a:off x="600075" y="4157663"/>
            <a:ext cx="7915275" cy="25717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2D2926"/>
              </a:solidFill>
              <a:latin typeface="Arial"/>
              <a:ea typeface="Arial"/>
              <a:cs typeface="Arial"/>
              <a:sym typeface="Arial"/>
            </a:endParaRPr>
          </a:p>
        </p:txBody>
      </p:sp>
      <p:pic>
        <p:nvPicPr>
          <p:cNvPr id="189" name="Google Shape;189;p21"/>
          <p:cNvPicPr preferRelativeResize="0"/>
          <p:nvPr/>
        </p:nvPicPr>
        <p:blipFill rotWithShape="1">
          <a:blip r:embed="rId6">
            <a:alphaModFix/>
          </a:blip>
          <a:srcRect b="45280" l="0" r="0" t="45280"/>
          <a:stretch/>
        </p:blipFill>
        <p:spPr>
          <a:xfrm>
            <a:off x="0" y="4657725"/>
            <a:ext cx="9144000" cy="485775"/>
          </a:xfrm>
          <a:prstGeom prst="rect">
            <a:avLst/>
          </a:prstGeom>
          <a:noFill/>
          <a:ln>
            <a:noFill/>
          </a:ln>
        </p:spPr>
      </p:pic>
      <p:pic>
        <p:nvPicPr>
          <p:cNvPr id="190" name="Google Shape;190;p21"/>
          <p:cNvPicPr preferRelativeResize="0"/>
          <p:nvPr/>
        </p:nvPicPr>
        <p:blipFill rotWithShape="1">
          <a:blip r:embed="rId7">
            <a:alphaModFix/>
          </a:blip>
          <a:srcRect b="0" l="0" r="0" t="0"/>
          <a:stretch/>
        </p:blipFill>
        <p:spPr>
          <a:xfrm>
            <a:off x="457200" y="4787397"/>
            <a:ext cx="2428875" cy="283582"/>
          </a:xfrm>
          <a:prstGeom prst="rect">
            <a:avLst/>
          </a:prstGeom>
          <a:noFill/>
          <a:ln>
            <a:noFill/>
          </a:ln>
        </p:spPr>
      </p:pic>
      <p:sp>
        <p:nvSpPr>
          <p:cNvPr id="191" name="Google Shape;191;p21"/>
          <p:cNvSpPr/>
          <p:nvPr/>
        </p:nvSpPr>
        <p:spPr>
          <a:xfrm>
            <a:off x="3218688" y="4718304"/>
            <a:ext cx="5440680" cy="347472"/>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r>
              <a:rPr b="0" i="0" lang="en" sz="650" u="none" cap="none" strike="noStrike">
                <a:solidFill>
                  <a:srgbClr val="FFFFFF"/>
                </a:solidFill>
                <a:latin typeface="Arial"/>
                <a:ea typeface="Arial"/>
                <a:cs typeface="Arial"/>
                <a:sym typeface="Arial"/>
              </a:rPr>
              <a:t>Sources: F1DB contributors, release v2026.15.1 (github.com/f1db/f1db), CC BY 4.0: Grand Prix results and constructors chronology, aggregated by the team.</a:t>
            </a:r>
            <a:endParaRPr b="0" i="0" sz="500" u="none" cap="none" strike="noStrike">
              <a:solidFill>
                <a:srgbClr val="FFFFFF"/>
              </a:solidFill>
              <a:latin typeface="Arial"/>
              <a:ea typeface="Arial"/>
              <a:cs typeface="Arial"/>
              <a:sym typeface="Arial"/>
            </a:endParaRPr>
          </a:p>
        </p:txBody>
      </p:sp>
      <p:sp>
        <p:nvSpPr>
          <p:cNvPr id="192" name="Google Shape;192;p21"/>
          <p:cNvSpPr txBox="1"/>
          <p:nvPr/>
        </p:nvSpPr>
        <p:spPr>
          <a:xfrm>
            <a:off x="1050" y="744675"/>
            <a:ext cx="6290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22"/>
          <p:cNvPicPr preferRelativeResize="0"/>
          <p:nvPr/>
        </p:nvPicPr>
        <p:blipFill rotWithShape="1">
          <a:blip r:embed="rId3">
            <a:alphaModFix/>
          </a:blip>
          <a:srcRect b="20" l="0" r="0" t="30"/>
          <a:stretch/>
        </p:blipFill>
        <p:spPr>
          <a:xfrm>
            <a:off x="0" y="0"/>
            <a:ext cx="9144001" cy="5143499"/>
          </a:xfrm>
          <a:prstGeom prst="rect">
            <a:avLst/>
          </a:prstGeom>
          <a:noFill/>
          <a:ln cap="flat" cmpd="sng" w="9525">
            <a:solidFill>
              <a:schemeClr val="lt2"/>
            </a:solidFill>
            <a:prstDash val="solid"/>
            <a:round/>
            <a:headEnd len="sm" w="sm" type="none"/>
            <a:tailEnd len="sm" w="sm" type="none"/>
          </a:ln>
        </p:spPr>
      </p:pic>
      <p:pic>
        <p:nvPicPr>
          <p:cNvPr descr="n_11.png" id="199" name="Google Shape;199;p22"/>
          <p:cNvPicPr preferRelativeResize="0"/>
          <p:nvPr/>
        </p:nvPicPr>
        <p:blipFill rotWithShape="1">
          <a:blip r:embed="rId4">
            <a:alphaModFix/>
          </a:blip>
          <a:srcRect b="0" l="0" r="0" t="0"/>
          <a:stretch/>
        </p:blipFill>
        <p:spPr>
          <a:xfrm>
            <a:off x="411480" y="1024128"/>
            <a:ext cx="4069080" cy="3502152"/>
          </a:xfrm>
          <a:prstGeom prst="rect">
            <a:avLst/>
          </a:prstGeom>
          <a:noFill/>
          <a:ln cap="flat" cmpd="sng" w="9525">
            <a:solidFill>
              <a:srgbClr val="FF0000"/>
            </a:solidFill>
            <a:prstDash val="solid"/>
            <a:round/>
            <a:headEnd len="sm" w="sm" type="none"/>
            <a:tailEnd len="sm" w="sm" type="none"/>
          </a:ln>
        </p:spPr>
      </p:pic>
      <p:pic>
        <p:nvPicPr>
          <p:cNvPr descr="n_15.png" id="200" name="Google Shape;200;p22"/>
          <p:cNvPicPr preferRelativeResize="0"/>
          <p:nvPr/>
        </p:nvPicPr>
        <p:blipFill rotWithShape="1">
          <a:blip r:embed="rId5">
            <a:alphaModFix/>
          </a:blip>
          <a:srcRect b="0" l="0" r="0" t="0"/>
          <a:stretch/>
        </p:blipFill>
        <p:spPr>
          <a:xfrm>
            <a:off x="4663440" y="1024128"/>
            <a:ext cx="4069080" cy="3502152"/>
          </a:xfrm>
          <a:prstGeom prst="rect">
            <a:avLst/>
          </a:prstGeom>
          <a:noFill/>
          <a:ln cap="flat" cmpd="sng" w="9525">
            <a:solidFill>
              <a:srgbClr val="FF0000"/>
            </a:solidFill>
            <a:prstDash val="solid"/>
            <a:round/>
            <a:headEnd len="sm" w="sm" type="none"/>
            <a:tailEnd len="sm" w="sm" type="none"/>
          </a:ln>
        </p:spPr>
      </p:pic>
      <p:sp>
        <p:nvSpPr>
          <p:cNvPr id="201" name="Google Shape;201;p22"/>
          <p:cNvSpPr/>
          <p:nvPr/>
        </p:nvSpPr>
        <p:spPr>
          <a:xfrm>
            <a:off x="457200" y="246888"/>
            <a:ext cx="4846320" cy="658368"/>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000000"/>
              </a:buClr>
              <a:buSzPts val="2200"/>
              <a:buFont typeface="Arial"/>
              <a:buNone/>
            </a:pPr>
            <a:r>
              <a:rPr b="1" i="0" lang="en" sz="2200" u="none" cap="none" strike="noStrike">
                <a:solidFill>
                  <a:srgbClr val="2D2926"/>
                </a:solidFill>
                <a:latin typeface="Arial"/>
                <a:ea typeface="Arial"/>
                <a:cs typeface="Arial"/>
                <a:sym typeface="Arial"/>
              </a:rPr>
              <a:t>Close Title Fights didn’t Consistently Extend Across Fields</a:t>
            </a:r>
            <a:endParaRPr b="1" i="0" sz="2200" u="none" cap="none" strike="noStrike">
              <a:solidFill>
                <a:srgbClr val="2D2926"/>
              </a:solidFill>
              <a:latin typeface="Arial"/>
              <a:ea typeface="Arial"/>
              <a:cs typeface="Arial"/>
              <a:sym typeface="Arial"/>
            </a:endParaRPr>
          </a:p>
        </p:txBody>
      </p:sp>
      <p:sp>
        <p:nvSpPr>
          <p:cNvPr id="202" name="Google Shape;202;p22"/>
          <p:cNvSpPr/>
          <p:nvPr/>
        </p:nvSpPr>
        <p:spPr>
          <a:xfrm>
            <a:off x="8186738" y="300038"/>
            <a:ext cx="471600" cy="228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800"/>
              <a:buFont typeface="Arial"/>
              <a:buNone/>
            </a:pPr>
            <a:r>
              <a:rPr b="1" lang="en" sz="800">
                <a:solidFill>
                  <a:srgbClr val="CC0000"/>
                </a:solidFill>
              </a:rPr>
              <a:t>08</a:t>
            </a:r>
            <a:endParaRPr b="1" i="0" sz="800" u="none" cap="none" strike="noStrike">
              <a:solidFill>
                <a:srgbClr val="CC0000"/>
              </a:solidFill>
              <a:latin typeface="Arial"/>
              <a:ea typeface="Arial"/>
              <a:cs typeface="Arial"/>
              <a:sym typeface="Arial"/>
            </a:endParaRPr>
          </a:p>
        </p:txBody>
      </p:sp>
      <p:sp>
        <p:nvSpPr>
          <p:cNvPr id="203" name="Google Shape;203;p22"/>
          <p:cNvSpPr/>
          <p:nvPr/>
        </p:nvSpPr>
        <p:spPr>
          <a:xfrm>
            <a:off x="1243013" y="1464469"/>
            <a:ext cx="3000300" cy="2142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6B6865"/>
              </a:solidFill>
              <a:latin typeface="Arial"/>
              <a:ea typeface="Arial"/>
              <a:cs typeface="Arial"/>
              <a:sym typeface="Arial"/>
            </a:endParaRPr>
          </a:p>
        </p:txBody>
      </p:sp>
      <p:sp>
        <p:nvSpPr>
          <p:cNvPr id="204" name="Google Shape;204;p22"/>
          <p:cNvSpPr/>
          <p:nvPr/>
        </p:nvSpPr>
        <p:spPr>
          <a:xfrm>
            <a:off x="600075" y="4157663"/>
            <a:ext cx="7915200" cy="257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2D2926"/>
              </a:solidFill>
              <a:latin typeface="Arial"/>
              <a:ea typeface="Arial"/>
              <a:cs typeface="Arial"/>
              <a:sym typeface="Arial"/>
            </a:endParaRPr>
          </a:p>
        </p:txBody>
      </p:sp>
      <p:pic>
        <p:nvPicPr>
          <p:cNvPr id="205" name="Google Shape;205;p22"/>
          <p:cNvPicPr preferRelativeResize="0"/>
          <p:nvPr/>
        </p:nvPicPr>
        <p:blipFill rotWithShape="1">
          <a:blip r:embed="rId6">
            <a:alphaModFix/>
          </a:blip>
          <a:srcRect b="45280" l="0" r="0" t="45280"/>
          <a:stretch/>
        </p:blipFill>
        <p:spPr>
          <a:xfrm>
            <a:off x="0" y="4657725"/>
            <a:ext cx="9144001" cy="485775"/>
          </a:xfrm>
          <a:prstGeom prst="rect">
            <a:avLst/>
          </a:prstGeom>
          <a:noFill/>
          <a:ln>
            <a:noFill/>
          </a:ln>
        </p:spPr>
      </p:pic>
      <p:pic>
        <p:nvPicPr>
          <p:cNvPr id="206" name="Google Shape;206;p22"/>
          <p:cNvPicPr preferRelativeResize="0"/>
          <p:nvPr/>
        </p:nvPicPr>
        <p:blipFill rotWithShape="1">
          <a:blip r:embed="rId7">
            <a:alphaModFix/>
          </a:blip>
          <a:srcRect b="0" l="0" r="0" t="0"/>
          <a:stretch/>
        </p:blipFill>
        <p:spPr>
          <a:xfrm>
            <a:off x="457200" y="4787397"/>
            <a:ext cx="2428876" cy="283582"/>
          </a:xfrm>
          <a:prstGeom prst="rect">
            <a:avLst/>
          </a:prstGeom>
          <a:noFill/>
          <a:ln>
            <a:noFill/>
          </a:ln>
        </p:spPr>
      </p:pic>
      <p:sp>
        <p:nvSpPr>
          <p:cNvPr id="207" name="Google Shape;207;p22"/>
          <p:cNvSpPr/>
          <p:nvPr/>
        </p:nvSpPr>
        <p:spPr>
          <a:xfrm>
            <a:off x="3218688" y="4718304"/>
            <a:ext cx="5440680" cy="347472"/>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r>
              <a:rPr b="0" i="0" lang="en" sz="650" u="none" cap="none" strike="noStrike">
                <a:solidFill>
                  <a:srgbClr val="FFFFFF"/>
                </a:solidFill>
                <a:latin typeface="Arial"/>
                <a:ea typeface="Arial"/>
                <a:cs typeface="Arial"/>
                <a:sym typeface="Arial"/>
              </a:rPr>
              <a:t>Sources: F1DB contributors, release v2026.15.1 (github.com/f1db/f1db), CC BY 4.0; U.S. Department of Justice, “Herfindahl–Hirschman Index” (justice.gov/atr), for the HHI definition.</a:t>
            </a:r>
            <a:endParaRPr b="0" i="0" sz="500" u="none" cap="none" strike="noStrike">
              <a:solidFill>
                <a:srgbClr val="FFFFFF"/>
              </a:solidFill>
              <a:latin typeface="Arial"/>
              <a:ea typeface="Arial"/>
              <a:cs typeface="Arial"/>
              <a:sym typeface="Arial"/>
            </a:endParaRPr>
          </a:p>
        </p:txBody>
      </p:sp>
      <p:sp>
        <p:nvSpPr>
          <p:cNvPr id="208" name="Google Shape;208;p22"/>
          <p:cNvSpPr txBox="1"/>
          <p:nvPr/>
        </p:nvSpPr>
        <p:spPr>
          <a:xfrm>
            <a:off x="1050" y="744675"/>
            <a:ext cx="6290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pic>
        <p:nvPicPr>
          <p:cNvPr id="214" name="Google Shape;214;p23"/>
          <p:cNvPicPr preferRelativeResize="0"/>
          <p:nvPr/>
        </p:nvPicPr>
        <p:blipFill rotWithShape="1">
          <a:blip r:embed="rId3">
            <a:alphaModFix/>
          </a:blip>
          <a:srcRect b="27" l="0" r="0" t="27"/>
          <a:stretch/>
        </p:blipFill>
        <p:spPr>
          <a:xfrm>
            <a:off x="0" y="0"/>
            <a:ext cx="9144000" cy="5143500"/>
          </a:xfrm>
          <a:prstGeom prst="rect">
            <a:avLst/>
          </a:prstGeom>
          <a:noFill/>
          <a:ln cap="flat" cmpd="sng" w="9525">
            <a:solidFill>
              <a:schemeClr val="lt2"/>
            </a:solidFill>
            <a:prstDash val="solid"/>
            <a:round/>
            <a:headEnd len="sm" w="sm" type="none"/>
            <a:tailEnd len="sm" w="sm" type="none"/>
          </a:ln>
        </p:spPr>
      </p:pic>
      <p:sp>
        <p:nvSpPr>
          <p:cNvPr id="215" name="Google Shape;215;p23"/>
          <p:cNvSpPr/>
          <p:nvPr/>
        </p:nvSpPr>
        <p:spPr>
          <a:xfrm>
            <a:off x="457200" y="246888"/>
            <a:ext cx="7498080" cy="356616"/>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2D2926"/>
                </a:solidFill>
                <a:latin typeface="Arial"/>
                <a:ea typeface="Arial"/>
                <a:cs typeface="Arial"/>
                <a:sym typeface="Arial"/>
              </a:rPr>
              <a:t>What Should Stakeholders Do?</a:t>
            </a:r>
            <a:endParaRPr b="1" i="0" sz="2200" u="none" cap="none" strike="noStrike">
              <a:solidFill>
                <a:srgbClr val="2D2926"/>
              </a:solidFill>
              <a:latin typeface="Arial"/>
              <a:ea typeface="Arial"/>
              <a:cs typeface="Arial"/>
              <a:sym typeface="Arial"/>
            </a:endParaRPr>
          </a:p>
        </p:txBody>
      </p:sp>
      <p:sp>
        <p:nvSpPr>
          <p:cNvPr id="216" name="Google Shape;216;p23"/>
          <p:cNvSpPr/>
          <p:nvPr/>
        </p:nvSpPr>
        <p:spPr>
          <a:xfrm>
            <a:off x="8186738" y="300038"/>
            <a:ext cx="471488" cy="228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rgbClr val="CC0000"/>
                </a:solidFill>
                <a:latin typeface="Arial"/>
                <a:ea typeface="Arial"/>
                <a:cs typeface="Arial"/>
                <a:sym typeface="Arial"/>
              </a:rPr>
              <a:t>09</a:t>
            </a:r>
            <a:endParaRPr b="1" i="0" sz="800" u="none" cap="none" strike="noStrike">
              <a:solidFill>
                <a:srgbClr val="CC0000"/>
              </a:solidFill>
              <a:latin typeface="Arial"/>
              <a:ea typeface="Arial"/>
              <a:cs typeface="Arial"/>
              <a:sym typeface="Arial"/>
            </a:endParaRPr>
          </a:p>
        </p:txBody>
      </p:sp>
      <p:sp>
        <p:nvSpPr>
          <p:cNvPr id="217" name="Google Shape;217;p23"/>
          <p:cNvSpPr/>
          <p:nvPr/>
        </p:nvSpPr>
        <p:spPr>
          <a:xfrm>
            <a:off x="457200" y="822960"/>
            <a:ext cx="4480560" cy="32918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1" lang="en" sz="1100" u="none" cap="none" strike="noStrike">
                <a:solidFill>
                  <a:srgbClr val="2D2926"/>
                </a:solidFill>
                <a:latin typeface="Arial"/>
                <a:ea typeface="Arial"/>
                <a:cs typeface="Arial"/>
                <a:sym typeface="Arial"/>
              </a:rPr>
              <a:t>Practical steps to drive results, supported by our findings</a:t>
            </a:r>
            <a:endParaRPr b="0" i="1" sz="1100" u="none" cap="none" strike="noStrike">
              <a:solidFill>
                <a:srgbClr val="2D2926"/>
              </a:solidFill>
              <a:latin typeface="Arial"/>
              <a:ea typeface="Arial"/>
              <a:cs typeface="Arial"/>
              <a:sym typeface="Arial"/>
            </a:endParaRPr>
          </a:p>
        </p:txBody>
      </p:sp>
      <p:graphicFrame>
        <p:nvGraphicFramePr>
          <p:cNvPr id="218" name="Google Shape;218;p23"/>
          <p:cNvGraphicFramePr/>
          <p:nvPr/>
        </p:nvGraphicFramePr>
        <p:xfrm>
          <a:off x="525780" y="1371600"/>
          <a:ext cx="3000000" cy="3000000"/>
        </p:xfrm>
        <a:graphic>
          <a:graphicData uri="http://schemas.openxmlformats.org/drawingml/2006/table">
            <a:tbl>
              <a:tblPr>
                <a:noFill/>
                <a:tableStyleId>{6FCA3058-2C99-4AFE-A98D-97C874F8DB97}</a:tableStyleId>
              </a:tblPr>
              <a:tblGrid>
                <a:gridCol w="1831875"/>
                <a:gridCol w="3077575"/>
                <a:gridCol w="3224125"/>
              </a:tblGrid>
              <a:tr h="710800">
                <a:tc>
                  <a:txBody>
                    <a:bodyPr/>
                    <a:lstStyle/>
                    <a:p>
                      <a:pPr indent="0" lvl="0" marL="0" marR="0" rtl="0" algn="ctr">
                        <a:lnSpc>
                          <a:spcPct val="100000"/>
                        </a:lnSpc>
                        <a:spcBef>
                          <a:spcPts val="0"/>
                        </a:spcBef>
                        <a:spcAft>
                          <a:spcPts val="0"/>
                        </a:spcAft>
                        <a:buClr>
                          <a:srgbClr val="FFFFFF"/>
                        </a:buClr>
                        <a:buSzPts val="1000"/>
                        <a:buFont typeface="Arial"/>
                        <a:buNone/>
                      </a:pPr>
                      <a:r>
                        <a:rPr b="1" lang="en" sz="1200" u="none" cap="none" strike="noStrike">
                          <a:solidFill>
                            <a:srgbClr val="FFFFFF"/>
                          </a:solidFill>
                          <a:latin typeface="Arial"/>
                          <a:ea typeface="Arial"/>
                          <a:cs typeface="Arial"/>
                          <a:sym typeface="Arial"/>
                        </a:rPr>
                        <a:t>Stakeholder</a:t>
                      </a:r>
                      <a:endParaRPr b="1" sz="1200" u="none" cap="none" strike="noStrike">
                        <a:solidFill>
                          <a:srgbClr val="FFFFFF"/>
                        </a:solidFill>
                        <a:latin typeface="Arial"/>
                        <a:ea typeface="Arial"/>
                        <a:cs typeface="Arial"/>
                        <a:sym typeface="Arial"/>
                      </a:endParaRPr>
                    </a:p>
                  </a:txBody>
                  <a:tcPr marT="57150" marB="57150"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0000"/>
                    </a:solidFill>
                  </a:tcPr>
                </a:tc>
                <a:tc>
                  <a:txBody>
                    <a:bodyPr/>
                    <a:lstStyle/>
                    <a:p>
                      <a:pPr indent="0" lvl="0" marL="0" marR="0" rtl="0" algn="ctr">
                        <a:lnSpc>
                          <a:spcPct val="100000"/>
                        </a:lnSpc>
                        <a:spcBef>
                          <a:spcPts val="0"/>
                        </a:spcBef>
                        <a:spcAft>
                          <a:spcPts val="0"/>
                        </a:spcAft>
                        <a:buClr>
                          <a:srgbClr val="FFFFFF"/>
                        </a:buClr>
                        <a:buSzPts val="1000"/>
                        <a:buFont typeface="Arial"/>
                        <a:buNone/>
                      </a:pPr>
                      <a:r>
                        <a:rPr b="1" lang="en" sz="1200" u="none" cap="none" strike="noStrike">
                          <a:solidFill>
                            <a:srgbClr val="FFFFFF"/>
                          </a:solidFill>
                          <a:latin typeface="Arial"/>
                          <a:ea typeface="Arial"/>
                          <a:cs typeface="Arial"/>
                          <a:sym typeface="Arial"/>
                        </a:rPr>
                        <a:t>Recommended Action</a:t>
                      </a:r>
                      <a:endParaRPr b="1" sz="1200" u="none" cap="none" strike="noStrike">
                        <a:solidFill>
                          <a:srgbClr val="FFFFFF"/>
                        </a:solidFill>
                        <a:latin typeface="Arial"/>
                        <a:ea typeface="Arial"/>
                        <a:cs typeface="Arial"/>
                        <a:sym typeface="Arial"/>
                      </a:endParaRPr>
                    </a:p>
                  </a:txBody>
                  <a:tcPr marT="57150" marB="57150"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0000"/>
                    </a:solidFill>
                  </a:tcPr>
                </a:tc>
                <a:tc>
                  <a:txBody>
                    <a:bodyPr/>
                    <a:lstStyle/>
                    <a:p>
                      <a:pPr indent="0" lvl="0" marL="0" marR="0" rtl="0" algn="ctr">
                        <a:lnSpc>
                          <a:spcPct val="100000"/>
                        </a:lnSpc>
                        <a:spcBef>
                          <a:spcPts val="0"/>
                        </a:spcBef>
                        <a:spcAft>
                          <a:spcPts val="0"/>
                        </a:spcAft>
                        <a:buClr>
                          <a:srgbClr val="FFFFFF"/>
                        </a:buClr>
                        <a:buSzPts val="1000"/>
                        <a:buFont typeface="Arial"/>
                        <a:buNone/>
                      </a:pPr>
                      <a:r>
                        <a:rPr b="1" lang="en" sz="1200" u="none" cap="none" strike="noStrike">
                          <a:solidFill>
                            <a:srgbClr val="FFFFFF"/>
                          </a:solidFill>
                          <a:latin typeface="Arial"/>
                          <a:ea typeface="Arial"/>
                          <a:cs typeface="Arial"/>
                          <a:sym typeface="Arial"/>
                        </a:rPr>
                        <a:t>Evidence &amp; Limitation</a:t>
                      </a:r>
                      <a:endParaRPr b="1" sz="1200" u="none" cap="none" strike="noStrike">
                        <a:solidFill>
                          <a:srgbClr val="FFFFFF"/>
                        </a:solidFill>
                        <a:latin typeface="Arial"/>
                        <a:ea typeface="Arial"/>
                        <a:cs typeface="Arial"/>
                        <a:sym typeface="Arial"/>
                      </a:endParaRPr>
                    </a:p>
                  </a:txBody>
                  <a:tcPr marT="57150" marB="57150"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0000"/>
                    </a:solidFill>
                  </a:tcPr>
                </a:tc>
              </a:tr>
              <a:tr h="710800">
                <a:tc>
                  <a:txBody>
                    <a:bodyPr/>
                    <a:lstStyle/>
                    <a:p>
                      <a:pPr indent="0" lvl="0" marL="0" marR="0" rtl="0" algn="ctr">
                        <a:lnSpc>
                          <a:spcPct val="100000"/>
                        </a:lnSpc>
                        <a:spcBef>
                          <a:spcPts val="0"/>
                        </a:spcBef>
                        <a:spcAft>
                          <a:spcPts val="0"/>
                        </a:spcAft>
                        <a:buClr>
                          <a:srgbClr val="2D2926"/>
                        </a:buClr>
                        <a:buSzPts val="900"/>
                        <a:buFont typeface="Arial"/>
                        <a:buNone/>
                      </a:pPr>
                      <a:r>
                        <a:rPr b="1" lang="en" sz="1200" u="none" cap="none" strike="noStrike">
                          <a:solidFill>
                            <a:srgbClr val="2D2926"/>
                          </a:solidFill>
                          <a:latin typeface="Arial"/>
                          <a:ea typeface="Arial"/>
                          <a:cs typeface="Arial"/>
                          <a:sym typeface="Arial"/>
                        </a:rPr>
                        <a:t>FIA</a:t>
                      </a:r>
                      <a:endParaRPr b="1" sz="1200" u="none" cap="none" strike="noStrike">
                        <a:solidFill>
                          <a:srgbClr val="2D2926"/>
                        </a:solidFill>
                        <a:latin typeface="Calibri"/>
                        <a:ea typeface="Calibri"/>
                        <a:cs typeface="Calibri"/>
                        <a:sym typeface="Calibri"/>
                      </a:endParaRPr>
                    </a:p>
                  </a:txBody>
                  <a:tcPr marT="50000" marB="50000"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900"/>
                        <a:buFont typeface="Calibri"/>
                        <a:buNone/>
                      </a:pPr>
                      <a:r>
                        <a:rPr lang="en" sz="1200" u="none" cap="none" strike="noStrike">
                          <a:latin typeface="Calibri"/>
                          <a:ea typeface="Calibri"/>
                          <a:cs typeface="Calibri"/>
                          <a:sym typeface="Calibri"/>
                        </a:rPr>
                        <a:t>Require a competitive-balance review across a full rules cycle before changing financial rules. Include both baselines and results excluding the latest season.</a:t>
                      </a:r>
                      <a:endParaRPr sz="1200" u="none" cap="none" strike="noStrike">
                        <a:solidFill>
                          <a:srgbClr val="2D2926"/>
                        </a:solidFill>
                        <a:latin typeface="Calibri"/>
                        <a:ea typeface="Calibri"/>
                        <a:cs typeface="Calibri"/>
                        <a:sym typeface="Calibri"/>
                      </a:endParaRPr>
                    </a:p>
                  </a:txBody>
                  <a:tcPr marT="50000" marB="50000"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900"/>
                        <a:buFont typeface="Calibri"/>
                        <a:buNone/>
                      </a:pPr>
                      <a:r>
                        <a:rPr lang="en" sz="1200" u="none" cap="none" strike="noStrike">
                          <a:latin typeface="Calibri"/>
                          <a:ea typeface="Calibri"/>
                          <a:cs typeface="Calibri"/>
                          <a:sym typeface="Calibri"/>
                        </a:rPr>
                        <a:t>Conclusions change with the comparison period. Points data cannot isolate the cost cap’s effect.</a:t>
                      </a:r>
                      <a:endParaRPr sz="1200" u="none" cap="none" strike="noStrike">
                        <a:solidFill>
                          <a:srgbClr val="2D2926"/>
                        </a:solidFill>
                        <a:latin typeface="Calibri"/>
                        <a:ea typeface="Calibri"/>
                        <a:cs typeface="Calibri"/>
                        <a:sym typeface="Calibri"/>
                      </a:endParaRPr>
                    </a:p>
                  </a:txBody>
                  <a:tcPr marT="50000" marB="50000"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710800">
                <a:tc>
                  <a:txBody>
                    <a:bodyPr/>
                    <a:lstStyle/>
                    <a:p>
                      <a:pPr indent="0" lvl="0" marL="0" marR="0" rtl="0" algn="ctr">
                        <a:lnSpc>
                          <a:spcPct val="100000"/>
                        </a:lnSpc>
                        <a:spcBef>
                          <a:spcPts val="0"/>
                        </a:spcBef>
                        <a:spcAft>
                          <a:spcPts val="0"/>
                        </a:spcAft>
                        <a:buClr>
                          <a:srgbClr val="2D2926"/>
                        </a:buClr>
                        <a:buSzPts val="900"/>
                        <a:buFont typeface="Arial"/>
                        <a:buNone/>
                      </a:pPr>
                      <a:r>
                        <a:rPr b="1" lang="en" sz="1200" u="none" cap="none" strike="noStrike">
                          <a:solidFill>
                            <a:srgbClr val="2D2926"/>
                          </a:solidFill>
                          <a:latin typeface="Arial"/>
                          <a:ea typeface="Arial"/>
                          <a:cs typeface="Arial"/>
                          <a:sym typeface="Arial"/>
                        </a:rPr>
                        <a:t>Middle-Ranked Teams</a:t>
                      </a:r>
                      <a:endParaRPr b="1" sz="1200" u="none" cap="none" strike="noStrike">
                        <a:solidFill>
                          <a:srgbClr val="2D2926"/>
                        </a:solidFill>
                        <a:latin typeface="Calibri"/>
                        <a:ea typeface="Calibri"/>
                        <a:cs typeface="Calibri"/>
                        <a:sym typeface="Calibri"/>
                      </a:endParaRPr>
                    </a:p>
                  </a:txBody>
                  <a:tcPr marT="50000" marB="50000"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900"/>
                        <a:buFont typeface="Calibri"/>
                        <a:buNone/>
                      </a:pPr>
                      <a:r>
                        <a:rPr lang="en" sz="1200" u="none" cap="none" strike="noStrike">
                          <a:latin typeface="Calibri"/>
                          <a:ea typeface="Calibri"/>
                          <a:cs typeface="Calibri"/>
                          <a:sym typeface="Calibri"/>
                        </a:rPr>
                        <a:t>Set performance targets across several seasons and benchmark their progress against improving teams.</a:t>
                      </a:r>
                      <a:endParaRPr sz="1200" u="none" cap="none" strike="noStrike">
                        <a:solidFill>
                          <a:srgbClr val="2D2926"/>
                        </a:solidFill>
                        <a:latin typeface="Calibri"/>
                        <a:ea typeface="Calibri"/>
                        <a:cs typeface="Calibri"/>
                        <a:sym typeface="Calibri"/>
                      </a:endParaRPr>
                    </a:p>
                  </a:txBody>
                  <a:tcPr marT="50000" marB="50000"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900"/>
                        <a:buFont typeface="Calibri"/>
                        <a:buNone/>
                      </a:pPr>
                      <a:r>
                        <a:rPr lang="en" sz="1200" u="none" cap="none" strike="noStrike">
                          <a:latin typeface="Calibri"/>
                          <a:ea typeface="Calibri"/>
                          <a:cs typeface="Calibri"/>
                          <a:sym typeface="Calibri"/>
                        </a:rPr>
                        <a:t>McLaren gained considerably, while several midfield teams lost share. The analysis does not reveal their spending decisions.</a:t>
                      </a:r>
                      <a:endParaRPr sz="1200" u="none" cap="none" strike="noStrike">
                        <a:solidFill>
                          <a:srgbClr val="2D2926"/>
                        </a:solidFill>
                        <a:latin typeface="Calibri"/>
                        <a:ea typeface="Calibri"/>
                        <a:cs typeface="Calibri"/>
                        <a:sym typeface="Calibri"/>
                      </a:endParaRPr>
                    </a:p>
                  </a:txBody>
                  <a:tcPr marT="50000" marB="50000"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710800">
                <a:tc>
                  <a:txBody>
                    <a:bodyPr/>
                    <a:lstStyle/>
                    <a:p>
                      <a:pPr indent="0" lvl="0" marL="0" marR="0" rtl="0" algn="ctr">
                        <a:lnSpc>
                          <a:spcPct val="100000"/>
                        </a:lnSpc>
                        <a:spcBef>
                          <a:spcPts val="0"/>
                        </a:spcBef>
                        <a:spcAft>
                          <a:spcPts val="0"/>
                        </a:spcAft>
                        <a:buClr>
                          <a:srgbClr val="2D2926"/>
                        </a:buClr>
                        <a:buSzPts val="900"/>
                        <a:buFont typeface="Arial"/>
                        <a:buNone/>
                      </a:pPr>
                      <a:r>
                        <a:rPr b="1" lang="en" sz="1200" u="none" cap="none" strike="noStrike">
                          <a:solidFill>
                            <a:srgbClr val="2D2926"/>
                          </a:solidFill>
                          <a:latin typeface="Arial"/>
                          <a:ea typeface="Arial"/>
                          <a:cs typeface="Arial"/>
                          <a:sym typeface="Arial"/>
                        </a:rPr>
                        <a:t>Sponsors</a:t>
                      </a:r>
                      <a:endParaRPr b="1" sz="1200" u="none" cap="none" strike="noStrike">
                        <a:solidFill>
                          <a:srgbClr val="2D2926"/>
                        </a:solidFill>
                        <a:latin typeface="Calibri"/>
                        <a:ea typeface="Calibri"/>
                        <a:cs typeface="Calibri"/>
                        <a:sym typeface="Calibri"/>
                      </a:endParaRPr>
                    </a:p>
                  </a:txBody>
                  <a:tcPr marT="50000" marB="50000"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900"/>
                        <a:buFont typeface="Calibri"/>
                        <a:buNone/>
                      </a:pPr>
                      <a:r>
                        <a:rPr lang="en" sz="1200" u="none" cap="none" strike="noStrike">
                          <a:latin typeface="Calibri"/>
                          <a:ea typeface="Calibri"/>
                          <a:cs typeface="Calibri"/>
                          <a:sym typeface="Calibri"/>
                        </a:rPr>
                        <a:t>Include emerging contenders in sponsorship shortlists and use performance conditions in deals.</a:t>
                      </a:r>
                      <a:endParaRPr sz="1200" u="none" cap="none" strike="noStrike">
                        <a:solidFill>
                          <a:srgbClr val="2D2926"/>
                        </a:solidFill>
                        <a:latin typeface="Calibri"/>
                        <a:ea typeface="Calibri"/>
                        <a:cs typeface="Calibri"/>
                        <a:sym typeface="Calibri"/>
                      </a:endParaRPr>
                    </a:p>
                  </a:txBody>
                  <a:tcPr marT="50000" marB="50000"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900"/>
                        <a:buFont typeface="Calibri"/>
                        <a:buNone/>
                      </a:pPr>
                      <a:r>
                        <a:rPr lang="en" sz="1200" u="none" cap="none" strike="noStrike">
                          <a:latin typeface="Calibri"/>
                          <a:ea typeface="Calibri"/>
                          <a:cs typeface="Calibri"/>
                          <a:sym typeface="Calibri"/>
                        </a:rPr>
                        <a:t>Podium opportunities expanded outside the Big Three, particularly in recent seasons. Sponsorship returns were not measured.</a:t>
                      </a:r>
                      <a:endParaRPr sz="1200" u="none" cap="none" strike="noStrike">
                        <a:solidFill>
                          <a:srgbClr val="2D2926"/>
                        </a:solidFill>
                        <a:latin typeface="Calibri"/>
                        <a:ea typeface="Calibri"/>
                        <a:cs typeface="Calibri"/>
                        <a:sym typeface="Calibri"/>
                      </a:endParaRPr>
                    </a:p>
                  </a:txBody>
                  <a:tcPr marT="50000" marB="50000" marR="85725" marL="85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pic>
        <p:nvPicPr>
          <p:cNvPr id="219" name="Google Shape;219;p23"/>
          <p:cNvPicPr preferRelativeResize="0"/>
          <p:nvPr/>
        </p:nvPicPr>
        <p:blipFill rotWithShape="1">
          <a:blip r:embed="rId4">
            <a:alphaModFix/>
          </a:blip>
          <a:srcRect b="45280" l="0" r="0" t="45280"/>
          <a:stretch/>
        </p:blipFill>
        <p:spPr>
          <a:xfrm>
            <a:off x="0" y="4657725"/>
            <a:ext cx="9144000" cy="485775"/>
          </a:xfrm>
          <a:prstGeom prst="rect">
            <a:avLst/>
          </a:prstGeom>
          <a:noFill/>
          <a:ln>
            <a:noFill/>
          </a:ln>
        </p:spPr>
      </p:pic>
      <p:pic>
        <p:nvPicPr>
          <p:cNvPr id="220" name="Google Shape;220;p23"/>
          <p:cNvPicPr preferRelativeResize="0"/>
          <p:nvPr/>
        </p:nvPicPr>
        <p:blipFill rotWithShape="1">
          <a:blip r:embed="rId5">
            <a:alphaModFix/>
          </a:blip>
          <a:srcRect b="0" l="0" r="0" t="0"/>
          <a:stretch/>
        </p:blipFill>
        <p:spPr>
          <a:xfrm>
            <a:off x="457200" y="4787397"/>
            <a:ext cx="2428875" cy="283582"/>
          </a:xfrm>
          <a:prstGeom prst="rect">
            <a:avLst/>
          </a:prstGeom>
          <a:noFill/>
          <a:ln>
            <a:noFill/>
          </a:ln>
        </p:spPr>
      </p:pic>
      <p:sp>
        <p:nvSpPr>
          <p:cNvPr id="221" name="Google Shape;221;p23"/>
          <p:cNvSpPr/>
          <p:nvPr/>
        </p:nvSpPr>
        <p:spPr>
          <a:xfrm>
            <a:off x="3218688" y="4718304"/>
            <a:ext cx="5440680" cy="347472"/>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650"/>
              <a:buFont typeface="Arial"/>
              <a:buNone/>
            </a:pPr>
            <a:r>
              <a:rPr b="0" i="0" lang="en" sz="650" u="none" cap="none" strike="noStrike">
                <a:solidFill>
                  <a:srgbClr val="FFFFFF"/>
                </a:solidFill>
                <a:latin typeface="Arial"/>
                <a:ea typeface="Arial"/>
                <a:cs typeface="Arial"/>
                <a:sym typeface="Arial"/>
              </a:rPr>
              <a:t>Sources: F1DB contributors, release v2026.15.1 (github.com/f1db/f1db), CC BY 4.0; Formula 1, “The 2021 rules and regulation changes” and “Seven key rule changes for 2022” (formula1.com).</a:t>
            </a:r>
            <a:endParaRPr b="0" i="0" sz="1100" u="none" cap="none" strike="noStrike">
              <a:solidFill>
                <a:srgbClr val="000000"/>
              </a:solidFill>
              <a:latin typeface="Arial"/>
              <a:ea typeface="Arial"/>
              <a:cs typeface="Arial"/>
              <a:sym typeface="Arial"/>
            </a:endParaRPr>
          </a:p>
        </p:txBody>
      </p:sp>
      <p:pic>
        <p:nvPicPr>
          <p:cNvPr id="222" name="Google Shape;222;p23" title="720ca6b4a7882cbd0a482fb8aae983ff.jpg"/>
          <p:cNvPicPr preferRelativeResize="0"/>
          <p:nvPr/>
        </p:nvPicPr>
        <p:blipFill rotWithShape="1">
          <a:blip r:embed="rId6">
            <a:alphaModFix/>
          </a:blip>
          <a:srcRect b="13429" l="0" r="0" t="23074"/>
          <a:stretch/>
        </p:blipFill>
        <p:spPr>
          <a:xfrm>
            <a:off x="6080760" y="337400"/>
            <a:ext cx="1017901" cy="849901"/>
          </a:xfrm>
          <a:prstGeom prst="rect">
            <a:avLst/>
          </a:prstGeom>
          <a:noFill/>
          <a:ln>
            <a:noFill/>
          </a:ln>
        </p:spPr>
      </p:pic>
      <p:pic>
        <p:nvPicPr>
          <p:cNvPr id="223" name="Google Shape;223;p23" title="images.png"/>
          <p:cNvPicPr preferRelativeResize="0"/>
          <p:nvPr/>
        </p:nvPicPr>
        <p:blipFill rotWithShape="1">
          <a:blip r:embed="rId7">
            <a:alphaModFix/>
          </a:blip>
          <a:srcRect b="8046" l="18678" r="18685" t="8054"/>
          <a:stretch/>
        </p:blipFill>
        <p:spPr>
          <a:xfrm>
            <a:off x="4974336" y="337400"/>
            <a:ext cx="1017899" cy="849899"/>
          </a:xfrm>
          <a:prstGeom prst="rect">
            <a:avLst/>
          </a:prstGeom>
          <a:noFill/>
          <a:ln>
            <a:noFill/>
          </a:ln>
        </p:spPr>
      </p:pic>
      <p:pic>
        <p:nvPicPr>
          <p:cNvPr id="224" name="Google Shape;224;p23" title="j3bwwy8ixl0f1.jpg"/>
          <p:cNvPicPr preferRelativeResize="0"/>
          <p:nvPr/>
        </p:nvPicPr>
        <p:blipFill rotWithShape="1">
          <a:blip r:embed="rId8">
            <a:alphaModFix/>
          </a:blip>
          <a:srcRect b="0" l="0" r="0" t="0"/>
          <a:stretch/>
        </p:blipFill>
        <p:spPr>
          <a:xfrm>
            <a:off x="7187184" y="337400"/>
            <a:ext cx="979188" cy="849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24"/>
          <p:cNvPicPr preferRelativeResize="0"/>
          <p:nvPr/>
        </p:nvPicPr>
        <p:blipFill rotWithShape="1">
          <a:blip r:embed="rId3">
            <a:alphaModFix/>
          </a:blip>
          <a:srcRect b="27" l="0" r="0" t="27"/>
          <a:stretch/>
        </p:blipFill>
        <p:spPr>
          <a:xfrm>
            <a:off x="0" y="0"/>
            <a:ext cx="9144001" cy="5143499"/>
          </a:xfrm>
          <a:prstGeom prst="rect">
            <a:avLst/>
          </a:prstGeom>
          <a:noFill/>
          <a:ln cap="flat" cmpd="sng" w="9525">
            <a:solidFill>
              <a:schemeClr val="lt2"/>
            </a:solidFill>
            <a:prstDash val="solid"/>
            <a:round/>
            <a:headEnd len="sm" w="sm" type="none"/>
            <a:tailEnd len="sm" w="sm" type="none"/>
          </a:ln>
        </p:spPr>
      </p:pic>
      <p:sp>
        <p:nvSpPr>
          <p:cNvPr id="231" name="Google Shape;231;p24"/>
          <p:cNvSpPr/>
          <p:nvPr/>
        </p:nvSpPr>
        <p:spPr>
          <a:xfrm>
            <a:off x="457200" y="246888"/>
            <a:ext cx="7498080" cy="356616"/>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2D2926"/>
                </a:solidFill>
                <a:latin typeface="Arial"/>
                <a:ea typeface="Arial"/>
                <a:cs typeface="Arial"/>
                <a:sym typeface="Arial"/>
              </a:rPr>
              <a:t>Conclusion</a:t>
            </a:r>
            <a:endParaRPr b="1" i="0" sz="2200" u="none" cap="none" strike="noStrike">
              <a:solidFill>
                <a:srgbClr val="2D2926"/>
              </a:solidFill>
              <a:latin typeface="Arial"/>
              <a:ea typeface="Arial"/>
              <a:cs typeface="Arial"/>
              <a:sym typeface="Arial"/>
            </a:endParaRPr>
          </a:p>
        </p:txBody>
      </p:sp>
      <p:sp>
        <p:nvSpPr>
          <p:cNvPr id="232" name="Google Shape;232;p24"/>
          <p:cNvSpPr/>
          <p:nvPr/>
        </p:nvSpPr>
        <p:spPr>
          <a:xfrm>
            <a:off x="8186738" y="300038"/>
            <a:ext cx="471488" cy="228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800"/>
              <a:buFont typeface="Arial"/>
              <a:buNone/>
            </a:pPr>
            <a:r>
              <a:rPr b="1" i="0" lang="en" sz="800" u="none" cap="none" strike="noStrike">
                <a:solidFill>
                  <a:srgbClr val="CC0000"/>
                </a:solidFill>
                <a:latin typeface="Arial"/>
                <a:ea typeface="Arial"/>
                <a:cs typeface="Arial"/>
                <a:sym typeface="Arial"/>
              </a:rPr>
              <a:t>10</a:t>
            </a:r>
            <a:endParaRPr b="1" i="0" sz="800" u="none" cap="none" strike="noStrike">
              <a:solidFill>
                <a:srgbClr val="CC0000"/>
              </a:solidFill>
              <a:latin typeface="Arial"/>
              <a:ea typeface="Arial"/>
              <a:cs typeface="Arial"/>
              <a:sym typeface="Arial"/>
            </a:endParaRPr>
          </a:p>
        </p:txBody>
      </p:sp>
      <p:sp>
        <p:nvSpPr>
          <p:cNvPr id="233" name="Google Shape;233;p24"/>
          <p:cNvSpPr/>
          <p:nvPr/>
        </p:nvSpPr>
        <p:spPr>
          <a:xfrm>
            <a:off x="1243013" y="1464469"/>
            <a:ext cx="3000375" cy="21431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6B6865"/>
              </a:solidFill>
              <a:latin typeface="Arial"/>
              <a:ea typeface="Arial"/>
              <a:cs typeface="Arial"/>
              <a:sym typeface="Arial"/>
            </a:endParaRPr>
          </a:p>
        </p:txBody>
      </p:sp>
      <p:pic>
        <p:nvPicPr>
          <p:cNvPr id="234" name="Google Shape;234;p24"/>
          <p:cNvPicPr preferRelativeResize="0"/>
          <p:nvPr/>
        </p:nvPicPr>
        <p:blipFill rotWithShape="1">
          <a:blip r:embed="rId4">
            <a:alphaModFix/>
          </a:blip>
          <a:srcRect b="45280" l="0" r="0" t="45280"/>
          <a:stretch/>
        </p:blipFill>
        <p:spPr>
          <a:xfrm>
            <a:off x="0" y="4657725"/>
            <a:ext cx="9144001" cy="485775"/>
          </a:xfrm>
          <a:prstGeom prst="rect">
            <a:avLst/>
          </a:prstGeom>
          <a:noFill/>
          <a:ln>
            <a:noFill/>
          </a:ln>
        </p:spPr>
      </p:pic>
      <p:pic>
        <p:nvPicPr>
          <p:cNvPr id="235" name="Google Shape;235;p24"/>
          <p:cNvPicPr preferRelativeResize="0"/>
          <p:nvPr/>
        </p:nvPicPr>
        <p:blipFill rotWithShape="1">
          <a:blip r:embed="rId5">
            <a:alphaModFix/>
          </a:blip>
          <a:srcRect b="0" l="0" r="0" t="0"/>
          <a:stretch/>
        </p:blipFill>
        <p:spPr>
          <a:xfrm>
            <a:off x="457200" y="4787397"/>
            <a:ext cx="2428875" cy="283582"/>
          </a:xfrm>
          <a:prstGeom prst="rect">
            <a:avLst/>
          </a:prstGeom>
          <a:noFill/>
          <a:ln>
            <a:noFill/>
          </a:ln>
        </p:spPr>
      </p:pic>
      <p:sp>
        <p:nvSpPr>
          <p:cNvPr id="236" name="Google Shape;236;p24"/>
          <p:cNvSpPr/>
          <p:nvPr/>
        </p:nvSpPr>
        <p:spPr>
          <a:xfrm>
            <a:off x="3218688" y="4718304"/>
            <a:ext cx="5440680" cy="347472"/>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650"/>
              <a:buFont typeface="Arial"/>
              <a:buNone/>
            </a:pPr>
            <a:r>
              <a:rPr b="0" i="0" lang="en" sz="650" u="none" cap="none" strike="noStrike">
                <a:solidFill>
                  <a:srgbClr val="FFFFFF"/>
                </a:solidFill>
                <a:latin typeface="Arial"/>
                <a:ea typeface="Arial"/>
                <a:cs typeface="Arial"/>
                <a:sym typeface="Arial"/>
              </a:rPr>
              <a:t>Sources: F1DB contributors, release v2026.15.1 (github.com/f1db/f1db), CC BY 4.0; Formula 1, 2021 and 2022 rule-change articles (formula1.com); SciPy developers, scipy.stats.ttest_ind.</a:t>
            </a:r>
            <a:endParaRPr b="0" i="0" sz="500" u="none" cap="none" strike="noStrike">
              <a:solidFill>
                <a:srgbClr val="FFFFFF"/>
              </a:solidFill>
              <a:latin typeface="Arial"/>
              <a:ea typeface="Arial"/>
              <a:cs typeface="Arial"/>
              <a:sym typeface="Arial"/>
            </a:endParaRPr>
          </a:p>
        </p:txBody>
      </p:sp>
      <p:pic>
        <p:nvPicPr>
          <p:cNvPr id="237" name="Google Shape;237;p24"/>
          <p:cNvPicPr preferRelativeResize="0"/>
          <p:nvPr/>
        </p:nvPicPr>
        <p:blipFill rotWithShape="1">
          <a:blip r:embed="rId6">
            <a:alphaModFix/>
          </a:blip>
          <a:srcRect b="0" l="0" r="0" t="0"/>
          <a:stretch/>
        </p:blipFill>
        <p:spPr>
          <a:xfrm>
            <a:off x="7572000" y="2795500"/>
            <a:ext cx="1289075" cy="1933647"/>
          </a:xfrm>
          <a:prstGeom prst="rect">
            <a:avLst/>
          </a:prstGeom>
          <a:noFill/>
          <a:ln>
            <a:noFill/>
          </a:ln>
        </p:spPr>
      </p:pic>
      <p:sp>
        <p:nvSpPr>
          <p:cNvPr id="238" name="Google Shape;238;p24"/>
          <p:cNvSpPr txBox="1"/>
          <p:nvPr/>
        </p:nvSpPr>
        <p:spPr>
          <a:xfrm>
            <a:off x="457200" y="822960"/>
            <a:ext cx="8138160" cy="356616"/>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900"/>
              <a:buFont typeface="Arial"/>
              <a:buNone/>
            </a:pPr>
            <a:r>
              <a:rPr b="1" i="0" lang="en" sz="1900" u="none" cap="none" strike="noStrike">
                <a:solidFill>
                  <a:srgbClr val="CC0000"/>
                </a:solidFill>
                <a:latin typeface="Arial"/>
                <a:ea typeface="Arial"/>
                <a:cs typeface="Arial"/>
                <a:sym typeface="Arial"/>
              </a:rPr>
              <a:t>Small shifts in competitive balance, not a clear transformation</a:t>
            </a:r>
            <a:endParaRPr b="1" i="0" sz="1900" u="none" cap="none" strike="noStrike">
              <a:solidFill>
                <a:srgbClr val="CC0000"/>
              </a:solidFill>
              <a:latin typeface="Arial"/>
              <a:ea typeface="Arial"/>
              <a:cs typeface="Arial"/>
              <a:sym typeface="Arial"/>
            </a:endParaRPr>
          </a:p>
        </p:txBody>
      </p:sp>
      <p:sp>
        <p:nvSpPr>
          <p:cNvPr id="239" name="Google Shape;239;p24"/>
          <p:cNvSpPr txBox="1"/>
          <p:nvPr/>
        </p:nvSpPr>
        <p:spPr>
          <a:xfrm>
            <a:off x="457200" y="1371600"/>
            <a:ext cx="3291840" cy="36576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rgbClr val="CC0000"/>
                </a:solidFill>
                <a:latin typeface="Arial"/>
                <a:ea typeface="Arial"/>
                <a:cs typeface="Arial"/>
                <a:sym typeface="Arial"/>
              </a:rPr>
              <a:t>What We Found</a:t>
            </a:r>
            <a:endParaRPr b="1" i="0" sz="1600" u="none" cap="none" strike="noStrike">
              <a:solidFill>
                <a:srgbClr val="CC0000"/>
              </a:solidFill>
              <a:latin typeface="Arial"/>
              <a:ea typeface="Arial"/>
              <a:cs typeface="Arial"/>
              <a:sym typeface="Arial"/>
            </a:endParaRPr>
          </a:p>
        </p:txBody>
      </p:sp>
      <p:sp>
        <p:nvSpPr>
          <p:cNvPr id="240" name="Google Shape;240;p24"/>
          <p:cNvSpPr txBox="1"/>
          <p:nvPr/>
        </p:nvSpPr>
        <p:spPr>
          <a:xfrm>
            <a:off x="4672584" y="1371600"/>
            <a:ext cx="3291840" cy="36576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rgbClr val="8B8784"/>
                </a:solidFill>
                <a:latin typeface="Arial"/>
                <a:ea typeface="Arial"/>
                <a:cs typeface="Arial"/>
                <a:sym typeface="Arial"/>
              </a:rPr>
              <a:t>What This Means</a:t>
            </a:r>
            <a:endParaRPr b="1" i="0" sz="1600" u="none" cap="none" strike="noStrike">
              <a:solidFill>
                <a:srgbClr val="8B8784"/>
              </a:solidFill>
              <a:latin typeface="Arial"/>
              <a:ea typeface="Arial"/>
              <a:cs typeface="Arial"/>
              <a:sym typeface="Arial"/>
            </a:endParaRPr>
          </a:p>
        </p:txBody>
      </p:sp>
      <p:sp>
        <p:nvSpPr>
          <p:cNvPr id="241" name="Google Shape;241;p24"/>
          <p:cNvSpPr txBox="1"/>
          <p:nvPr/>
        </p:nvSpPr>
        <p:spPr>
          <a:xfrm>
            <a:off x="658368" y="1783080"/>
            <a:ext cx="3840480" cy="533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The top two teams earned a slightly smaller share of points </a:t>
            </a:r>
            <a:r>
              <a:rPr b="1" i="0" lang="en" sz="1500" u="none" cap="none" strike="noStrike">
                <a:solidFill>
                  <a:srgbClr val="CC0000"/>
                </a:solidFill>
                <a:latin typeface="Calibri"/>
                <a:ea typeface="Calibri"/>
                <a:cs typeface="Calibri"/>
                <a:sym typeface="Calibri"/>
              </a:rPr>
              <a:t>−2.58 pp. </a:t>
            </a:r>
            <a:r>
              <a:rPr b="0" i="0" lang="en" sz="1500" u="none" cap="none" strike="noStrike">
                <a:solidFill>
                  <a:srgbClr val="2D2926"/>
                </a:solidFill>
                <a:latin typeface="Calibri"/>
                <a:ea typeface="Calibri"/>
                <a:cs typeface="Calibri"/>
                <a:sym typeface="Calibri"/>
              </a:rPr>
              <a:t>(p = 0.245)</a:t>
            </a:r>
            <a:endParaRPr b="0" i="0" sz="1500" u="none" cap="none" strike="noStrike">
              <a:solidFill>
                <a:srgbClr val="2D2926"/>
              </a:solidFill>
              <a:latin typeface="Calibri"/>
              <a:ea typeface="Calibri"/>
              <a:cs typeface="Calibri"/>
              <a:sym typeface="Calibri"/>
            </a:endParaRPr>
          </a:p>
        </p:txBody>
      </p:sp>
      <p:sp>
        <p:nvSpPr>
          <p:cNvPr id="242" name="Google Shape;242;p24"/>
          <p:cNvSpPr txBox="1"/>
          <p:nvPr/>
        </p:nvSpPr>
        <p:spPr>
          <a:xfrm>
            <a:off x="658368" y="2426208"/>
            <a:ext cx="3840480" cy="76581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Midfield teams gained some ground, but the increase was small. </a:t>
            </a:r>
            <a:r>
              <a:rPr b="1" i="0" lang="en" sz="1500" u="none" cap="none" strike="noStrike">
                <a:solidFill>
                  <a:srgbClr val="CC0000"/>
                </a:solidFill>
                <a:latin typeface="Calibri"/>
                <a:ea typeface="Calibri"/>
                <a:cs typeface="Calibri"/>
                <a:sym typeface="Calibri"/>
              </a:rPr>
              <a:t>69.8% </a:t>
            </a:r>
            <a:r>
              <a:rPr b="0" i="0" lang="en" sz="1500" u="none" cap="none" strike="noStrike">
                <a:solidFill>
                  <a:srgbClr val="2D2926"/>
                </a:solidFill>
                <a:latin typeface="Calibri"/>
                <a:ea typeface="Calibri"/>
                <a:cs typeface="Calibri"/>
                <a:sym typeface="Calibri"/>
              </a:rPr>
              <a:t>Big Three share without 2025 (vs 65.8%)</a:t>
            </a:r>
            <a:endParaRPr b="0" i="0" sz="1500" u="none" cap="none" strike="noStrike">
              <a:solidFill>
                <a:srgbClr val="2D2926"/>
              </a:solidFill>
              <a:latin typeface="Calibri"/>
              <a:ea typeface="Calibri"/>
              <a:cs typeface="Calibri"/>
              <a:sym typeface="Calibri"/>
            </a:endParaRPr>
          </a:p>
        </p:txBody>
      </p:sp>
      <p:sp>
        <p:nvSpPr>
          <p:cNvPr id="243" name="Google Shape;243;p24"/>
          <p:cNvSpPr txBox="1"/>
          <p:nvPr/>
        </p:nvSpPr>
        <p:spPr>
          <a:xfrm>
            <a:off x="658368" y="3301746"/>
            <a:ext cx="3840480" cy="533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The number of teams winning races barely changed. (</a:t>
            </a:r>
            <a:r>
              <a:rPr b="1" i="0" lang="en" sz="1500" u="none" cap="none" strike="noStrike">
                <a:solidFill>
                  <a:srgbClr val="CC0000"/>
                </a:solidFill>
                <a:latin typeface="Calibri"/>
                <a:ea typeface="Calibri"/>
                <a:cs typeface="Calibri"/>
                <a:sym typeface="Calibri"/>
              </a:rPr>
              <a:t>3.18 → 3.20)</a:t>
            </a:r>
            <a:endParaRPr b="0" i="0" sz="1500" u="none" cap="none" strike="noStrike">
              <a:solidFill>
                <a:schemeClr val="dk1"/>
              </a:solidFill>
              <a:latin typeface="Calibri"/>
              <a:ea typeface="Calibri"/>
              <a:cs typeface="Calibri"/>
              <a:sym typeface="Calibri"/>
            </a:endParaRPr>
          </a:p>
        </p:txBody>
      </p:sp>
      <p:sp>
        <p:nvSpPr>
          <p:cNvPr id="244" name="Google Shape;244;p24"/>
          <p:cNvSpPr txBox="1"/>
          <p:nvPr/>
        </p:nvSpPr>
        <p:spPr>
          <a:xfrm>
            <a:off x="4873752" y="1783080"/>
            <a:ext cx="2697480" cy="76581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Different teams had success, but the grid is still dominated by a few.</a:t>
            </a:r>
            <a:endParaRPr b="0" i="0" sz="1500" u="none" cap="none" strike="noStrike">
              <a:solidFill>
                <a:schemeClr val="dk1"/>
              </a:solidFill>
              <a:latin typeface="Calibri"/>
              <a:ea typeface="Calibri"/>
              <a:cs typeface="Calibri"/>
              <a:sym typeface="Calibri"/>
            </a:endParaRPr>
          </a:p>
        </p:txBody>
      </p:sp>
      <p:sp>
        <p:nvSpPr>
          <p:cNvPr id="245" name="Google Shape;245;p24"/>
          <p:cNvSpPr txBox="1"/>
          <p:nvPr/>
        </p:nvSpPr>
        <p:spPr>
          <a:xfrm>
            <a:off x="4873752" y="2658618"/>
            <a:ext cx="2697480" cy="533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We cannot say the cost cap caused these changes.</a:t>
            </a:r>
            <a:endParaRPr b="0" i="0" sz="1500" u="none" cap="none" strike="noStrike">
              <a:solidFill>
                <a:schemeClr val="dk1"/>
              </a:solidFill>
              <a:latin typeface="Calibri"/>
              <a:ea typeface="Calibri"/>
              <a:cs typeface="Calibri"/>
              <a:sym typeface="Calibri"/>
            </a:endParaRPr>
          </a:p>
        </p:txBody>
      </p:sp>
      <p:sp>
        <p:nvSpPr>
          <p:cNvPr id="246" name="Google Shape;246;p24"/>
          <p:cNvSpPr txBox="1"/>
          <p:nvPr/>
        </p:nvSpPr>
        <p:spPr>
          <a:xfrm>
            <a:off x="4873752" y="3301746"/>
            <a:ext cx="2697480" cy="533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We need more seasons to see if the pattern continues.</a:t>
            </a:r>
            <a:endParaRPr b="0" i="0" sz="1500" u="none" cap="none" strike="noStrike">
              <a:solidFill>
                <a:schemeClr val="dk1"/>
              </a:solidFill>
              <a:latin typeface="Calibri"/>
              <a:ea typeface="Calibri"/>
              <a:cs typeface="Calibri"/>
              <a:sym typeface="Calibri"/>
            </a:endParaRPr>
          </a:p>
        </p:txBody>
      </p:sp>
      <p:sp>
        <p:nvSpPr>
          <p:cNvPr id="247" name="Google Shape;247;p24"/>
          <p:cNvSpPr/>
          <p:nvPr/>
        </p:nvSpPr>
        <p:spPr>
          <a:xfrm>
            <a:off x="457200" y="1819656"/>
            <a:ext cx="182880" cy="210312"/>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CC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
        <p:nvSpPr>
          <p:cNvPr id="248" name="Google Shape;248;p24"/>
          <p:cNvSpPr/>
          <p:nvPr/>
        </p:nvSpPr>
        <p:spPr>
          <a:xfrm flipH="1" rot="10800000">
            <a:off x="457200" y="2462784"/>
            <a:ext cx="182880" cy="210312"/>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CC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
        <p:nvSpPr>
          <p:cNvPr id="249" name="Google Shape;249;p24"/>
          <p:cNvSpPr/>
          <p:nvPr/>
        </p:nvSpPr>
        <p:spPr>
          <a:xfrm>
            <a:off x="457200" y="3338322"/>
            <a:ext cx="182880" cy="210312"/>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CC0000"/>
                </a:solidFill>
                <a:latin typeface="Arial"/>
                <a:ea typeface="Arial"/>
                <a:cs typeface="Arial"/>
                <a:sym typeface="Arial"/>
              </a:rPr>
              <a:t>•</a:t>
            </a:r>
            <a:endParaRPr b="1" i="0" sz="1000" u="none" cap="none" strike="noStrike">
              <a:solidFill>
                <a:srgbClr val="CC0000"/>
              </a:solidFill>
              <a:latin typeface="Arial"/>
              <a:ea typeface="Arial"/>
              <a:cs typeface="Arial"/>
              <a:sym typeface="Arial"/>
            </a:endParaRPr>
          </a:p>
        </p:txBody>
      </p:sp>
      <p:sp>
        <p:nvSpPr>
          <p:cNvPr id="250" name="Google Shape;250;p24"/>
          <p:cNvSpPr/>
          <p:nvPr/>
        </p:nvSpPr>
        <p:spPr>
          <a:xfrm>
            <a:off x="4672584" y="1819656"/>
            <a:ext cx="182880" cy="210312"/>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8B8784"/>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pic>
        <p:nvPicPr>
          <p:cNvPr id="251" name="Google Shape;251;p24"/>
          <p:cNvPicPr preferRelativeResize="0"/>
          <p:nvPr/>
        </p:nvPicPr>
        <p:blipFill rotWithShape="1">
          <a:blip r:embed="rId7">
            <a:alphaModFix/>
          </a:blip>
          <a:srcRect b="0" l="0" r="0" t="0"/>
          <a:stretch/>
        </p:blipFill>
        <p:spPr>
          <a:xfrm>
            <a:off x="2886075" y="3568442"/>
            <a:ext cx="1786501" cy="1069470"/>
          </a:xfrm>
          <a:prstGeom prst="rect">
            <a:avLst/>
          </a:prstGeom>
          <a:noFill/>
          <a:ln>
            <a:noFill/>
          </a:ln>
        </p:spPr>
      </p:pic>
      <p:sp>
        <p:nvSpPr>
          <p:cNvPr id="252" name="Google Shape;252;p24"/>
          <p:cNvSpPr/>
          <p:nvPr/>
        </p:nvSpPr>
        <p:spPr>
          <a:xfrm>
            <a:off x="4672584" y="2695194"/>
            <a:ext cx="182880" cy="210312"/>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8B8784"/>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
        <p:nvSpPr>
          <p:cNvPr id="253" name="Google Shape;253;p24"/>
          <p:cNvSpPr/>
          <p:nvPr/>
        </p:nvSpPr>
        <p:spPr>
          <a:xfrm>
            <a:off x="4672584" y="3338322"/>
            <a:ext cx="182880" cy="210312"/>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8B8784"/>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